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F828C51-6741-E2B9-963F-10A3FB46C3F0}">
          <p14:sldIdLst>
            <p14:sldId id="256"/>
          </p14:sldIdLst>
        </p14:section>
        <p14:section name="Problem" id="{30746C20-91F1-95F6-A681-EB333FF7F9FF}">
          <p14:sldIdLst>
            <p14:sldId id="257"/>
          </p14:sldIdLst>
        </p14:section>
        <p14:section name="Product" id="{868B5CC2-FDD4-0D65-ED62-20F2C21FCFE0}">
          <p14:sldIdLst>
            <p14:sldId id="258"/>
            <p14:sldId id="259"/>
            <p14:sldId id="260"/>
            <p14:sldId id="261"/>
          </p14:sldIdLst>
        </p14:section>
        <p14:section name="Technology" id="{D0E89E8C-8E16-8F67-6D6E-B10715CD3018}">
          <p14:sldIdLst>
            <p14:sldId id="262"/>
          </p14:sldIdLst>
        </p14:section>
        <p14:section name="Close" id="{9B4F7D5E-AB92-3836-9E7F-DA66DBB26A88}">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3" d="100"/>
          <a:sy n="123" d="100"/>
        </p:scale>
        <p:origin x="523" y="1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425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 are presenting REPLAN AI. Our tagline is: Your Week. Rebuilt. It is a student planner that does something most planners do not do. It fixes your plan when life gets in the way. We call it a self-healing planner.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student knows this week. Classes, labs, deadlines, and then something unexpected happens. Most planners only help you make a plan. But plans break. The real problem is not planning. It is what happens after the plan breaks. Students need recovery.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REPLAN AI. It gives students one smart dashboard for the whole week. You add your tasks and deadlines. You tell it how many hours you can study. Then it builds a plan. And the key part: when something goes wrong, it recovers your schedule automatically.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works in four steps. One: add your tasks and commitments. Two: the app generates your weekly plan. Three: something unexpected happens. Four: the app recalculates and recovers. Important point: fixed things like classes and exams never move. Only flexible study tasks are rescheduled.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most important feature: the Chaos Button. Life changes, so the plan must change too. The app supports four types of disruption. A student is ill or unavailable. An urgent assignment appears. A class or commitment runs longer. Or a study session is missed. In each case, the plan adapts.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from our prototype demonstration. The student has a Data Structures assignment from 1:00 to 1:30 PM. Then the student becomes unavailable for four hours. REPLAN AI moves the assignment to 5:00 to 5:30 PM. It shows a preview of the change first. It only moves flexible work. And it warns the student if a deadline is at risk.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technology. REPLAN AI is built with HTML, CSS, and plain JavaScript. Data is saved in the browser with localStorage. The core is a constraint-aware scheduler, deadline risk detection, and reversible recovery. We want to be honest: this prototype does not use an external language model. It uses clear rules, so every change can be explained. That is our strength.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other planners help you plan a perfect week. But no week is perfect. REPLAN AI helps you manage an imperfect one. It gives realistic planning, automatic recovery, and deadline awareness. Thank you. Now let us show you a live demo.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868680"/>
          </a:xfrm>
          <a:prstGeom prst="rect">
            <a:avLst/>
          </a:prstGeom>
          <a:noFill/>
          <a:ln/>
        </p:spPr>
        <p:txBody>
          <a:bodyPr wrap="square" rtlCol="0"/>
          <a:lstStyle>
            <a:lvl1pPr marL="0" indent="0" algn="l">
              <a:buNone/>
              <a:defRPr lang="en-US" sz="2600" b="1" dirty="0">
                <a:solidFill>
                  <a:schemeClr val="tx1"/>
                </a:solidFill>
              </a:defRPr>
            </a:lvl1pPr>
          </a:lstStyle>
          <a:p>
            <a:pPr marL="0" indent="0" algn="l">
              <a:buNone/>
            </a:pPr>
            <a:r>
              <a:rPr lang="en-US" sz="2600" b="1" dirty="0">
                <a:solidFill>
                  <a:schemeClr val="tx1"/>
                </a:solidFill>
              </a:rPr>
              <a:t>Title</a:t>
            </a:r>
            <a:endParaRPr lang="en-US" sz="2600" dirty="0"/>
          </a:p>
        </p:txBody>
      </p:sp>
      <p:sp>
        <p:nvSpPr>
          <p:cNvPr id="3" name="Text 0"/>
          <p:cNvSpPr/>
          <p:nvPr/>
        </p:nvSpPr>
        <p:spPr>
          <a:xfrm>
            <a:off x="457200" y="4773168"/>
            <a:ext cx="5943600" cy="228600"/>
          </a:xfrm>
          <a:prstGeom prst="rect">
            <a:avLst/>
          </a:prstGeom>
          <a:noFill/>
          <a:ln/>
        </p:spPr>
        <p:txBody>
          <a:bodyPr wrap="square" lIns="0" tIns="0" rIns="0" bIns="0" rtlCol="0" anchor="ctr"/>
          <a:lstStyle/>
          <a:p>
            <a:pPr marL="0" indent="0">
              <a:buNone/>
            </a:pPr>
            <a:r>
              <a:rPr lang="en-US" sz="1000" dirty="0">
                <a:solidFill>
                  <a:schemeClr val="tx2"/>
                </a:solidFill>
              </a:rPr>
              <a:t>REPLAN AI  |  Prompt Wars  |  AI Arena  |  RUVERSE TechFest 2026</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7C7"/>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7C7"/>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120640" y="-1097280"/>
            <a:ext cx="5029200" cy="5029200"/>
          </a:xfrm>
          <a:prstGeom prst="ellipse">
            <a:avLst/>
          </a:prstGeom>
          <a:solidFill>
            <a:schemeClr val="accent2">
              <a:alpha val="12000"/>
            </a:schemeClr>
          </a:solidFill>
          <a:ln/>
        </p:spPr>
      </p:sp>
      <p:sp>
        <p:nvSpPr>
          <p:cNvPr id="3" name="Shape 1"/>
          <p:cNvSpPr/>
          <p:nvPr/>
        </p:nvSpPr>
        <p:spPr>
          <a:xfrm>
            <a:off x="-1828800" y="2926080"/>
            <a:ext cx="4572000" cy="4572000"/>
          </a:xfrm>
          <a:prstGeom prst="ellipse">
            <a:avLst/>
          </a:prstGeom>
          <a:solidFill>
            <a:schemeClr val="accent1">
              <a:alpha val="10000"/>
            </a:schemeClr>
          </a:solidFill>
          <a:ln/>
        </p:spPr>
      </p:sp>
      <p:sp>
        <p:nvSpPr>
          <p:cNvPr id="4" name="Shape 2"/>
          <p:cNvSpPr/>
          <p:nvPr/>
        </p:nvSpPr>
        <p:spPr>
          <a:xfrm>
            <a:off x="5669280" y="2011680"/>
            <a:ext cx="3474720" cy="3474720"/>
          </a:xfrm>
          <a:prstGeom prst="ellipse">
            <a:avLst/>
          </a:prstGeom>
          <a:solidFill>
            <a:schemeClr val="accent1">
              <a:alpha val="10000"/>
            </a:schemeClr>
          </a:solidFill>
          <a:ln/>
        </p:spPr>
      </p:sp>
      <p:sp>
        <p:nvSpPr>
          <p:cNvPr id="5" name="Text 3"/>
          <p:cNvSpPr txBox="1"/>
          <p:nvPr/>
        </p:nvSpPr>
        <p:spPr>
          <a:xfrm>
            <a:off x="548640" y="960120"/>
            <a:ext cx="4389120" cy="914400"/>
          </a:xfrm>
          <a:prstGeom prst="rect">
            <a:avLst/>
          </a:prstGeom>
          <a:noFill/>
          <a:ln/>
        </p:spPr>
        <p:txBody>
          <a:bodyPr wrap="square" lIns="0" tIns="0" rIns="0" bIns="0" rtlCol="0" anchor="ctr"/>
          <a:lstStyle/>
          <a:p>
            <a:pPr marL="0" indent="0">
              <a:buNone/>
            </a:pPr>
            <a:r>
              <a:rPr lang="en-US" sz="5400" b="1" dirty="0">
                <a:solidFill>
                  <a:schemeClr val="tx1"/>
                </a:solidFill>
                <a:latin typeface="+mj-lt" pitchFamily="34" charset="0"/>
                <a:ea typeface="+mj-lt" pitchFamily="34" charset="-122"/>
                <a:cs typeface="+mj-lt" pitchFamily="34" charset="-120"/>
              </a:rPr>
              <a:t>REPLAN AI</a:t>
            </a:r>
            <a:endParaRPr lang="en-US" sz="5400" dirty="0"/>
          </a:p>
        </p:txBody>
      </p:sp>
      <p:sp>
        <p:nvSpPr>
          <p:cNvPr id="6" name="Text 4"/>
          <p:cNvSpPr txBox="1"/>
          <p:nvPr/>
        </p:nvSpPr>
        <p:spPr>
          <a:xfrm>
            <a:off x="548640" y="1920240"/>
            <a:ext cx="4389120" cy="548640"/>
          </a:xfrm>
          <a:prstGeom prst="rect">
            <a:avLst/>
          </a:prstGeom>
          <a:noFill/>
          <a:ln/>
        </p:spPr>
        <p:txBody>
          <a:bodyPr wrap="square" lIns="0" tIns="0" rIns="0" bIns="0" rtlCol="0" anchor="ctr"/>
          <a:lstStyle/>
          <a:p>
            <a:pPr marL="0" indent="0">
              <a:buNone/>
            </a:pPr>
            <a:r>
              <a:rPr lang="en-US" sz="2800" b="1" dirty="0">
                <a:solidFill>
                  <a:schemeClr val="accent1"/>
                </a:solidFill>
                <a:latin typeface="+mj-lt" pitchFamily="34" charset="0"/>
                <a:ea typeface="+mj-lt" pitchFamily="34" charset="-122"/>
                <a:cs typeface="+mj-lt" pitchFamily="34" charset="-120"/>
              </a:rPr>
              <a:t>Your Week. </a:t>
            </a:r>
            <a:r>
              <a:rPr lang="en-US" sz="2800" b="1" dirty="0">
                <a:solidFill>
                  <a:schemeClr val="accent2"/>
                </a:solidFill>
                <a:latin typeface="+mj-lt" pitchFamily="34" charset="0"/>
                <a:ea typeface="+mj-lt" pitchFamily="34" charset="-122"/>
                <a:cs typeface="+mj-lt" pitchFamily="34" charset="-120"/>
              </a:rPr>
              <a:t>Rebuilt.</a:t>
            </a:r>
            <a:endParaRPr lang="en-US" sz="2800" dirty="0"/>
          </a:p>
        </p:txBody>
      </p:sp>
      <p:sp>
        <p:nvSpPr>
          <p:cNvPr id="7" name="Text 5"/>
          <p:cNvSpPr txBox="1"/>
          <p:nvPr/>
        </p:nvSpPr>
        <p:spPr>
          <a:xfrm>
            <a:off x="548640" y="2560320"/>
            <a:ext cx="4389120" cy="365760"/>
          </a:xfrm>
          <a:prstGeom prst="rect">
            <a:avLst/>
          </a:prstGeom>
          <a:noFill/>
          <a:ln/>
        </p:spPr>
        <p:txBody>
          <a:bodyPr wrap="square" lIns="0" tIns="0" rIns="0" bIns="0" rtlCol="0" anchor="ctr"/>
          <a:lstStyle/>
          <a:p>
            <a:pPr marL="0" indent="0">
              <a:buNone/>
            </a:pPr>
            <a:r>
              <a:rPr lang="en-US" sz="1800" dirty="0">
                <a:solidFill>
                  <a:schemeClr val="tx2"/>
                </a:solidFill>
              </a:rPr>
              <a:t>A Self-Healing Student Planner</a:t>
            </a:r>
            <a:endParaRPr lang="en-US" sz="1800" dirty="0"/>
          </a:p>
        </p:txBody>
      </p:sp>
      <p:sp>
        <p:nvSpPr>
          <p:cNvPr id="8" name="Text 6"/>
          <p:cNvSpPr txBox="1"/>
          <p:nvPr/>
        </p:nvSpPr>
        <p:spPr>
          <a:xfrm>
            <a:off x="548640" y="3291840"/>
            <a:ext cx="4160520" cy="365760"/>
          </a:xfrm>
          <a:prstGeom prst="roundRect">
            <a:avLst>
              <a:gd name="adj" fmla="val 50000"/>
            </a:avLst>
          </a:prstGeom>
          <a:solidFill>
            <a:schemeClr val="accent1">
              <a:alpha val="20000"/>
            </a:schemeClr>
          </a:solidFill>
          <a:ln w="12700">
            <a:solidFill>
              <a:schemeClr val="accent1">
                <a:alpha val="70000"/>
              </a:schemeClr>
            </a:solidFill>
          </a:ln>
        </p:spPr>
        <p:txBody>
          <a:bodyPr wrap="square" lIns="0" tIns="0" rIns="0" bIns="0" rtlCol="0" anchor="ctr"/>
          <a:lstStyle/>
          <a:p>
            <a:pPr marL="0" indent="0" algn="ctr">
              <a:buNone/>
            </a:pPr>
            <a:r>
              <a:rPr lang="en-US" sz="1100" b="1" dirty="0">
                <a:solidFill>
                  <a:schemeClr val="accent1"/>
                </a:solidFill>
              </a:rPr>
              <a:t>Prompt Wars  |  AI Arena  |  RUVERSE TechFest 2026</a:t>
            </a:r>
            <a:endParaRPr lang="en-US" sz="1100" dirty="0"/>
          </a:p>
        </p:txBody>
      </p:sp>
      <p:sp>
        <p:nvSpPr>
          <p:cNvPr id="9" name="Text 7"/>
          <p:cNvSpPr txBox="1"/>
          <p:nvPr/>
        </p:nvSpPr>
        <p:spPr>
          <a:xfrm>
            <a:off x="548640" y="4160520"/>
            <a:ext cx="4389120" cy="274320"/>
          </a:xfrm>
          <a:prstGeom prst="rect">
            <a:avLst/>
          </a:prstGeom>
          <a:noFill/>
          <a:ln/>
        </p:spPr>
        <p:txBody>
          <a:bodyPr wrap="square" lIns="0" tIns="0" rIns="0" bIns="0" rtlCol="0" anchor="ctr"/>
          <a:lstStyle/>
          <a:p>
            <a:pPr marL="0" indent="0">
              <a:buNone/>
            </a:pPr>
            <a:r>
              <a:rPr lang="en-US" sz="1200" dirty="0">
                <a:solidFill>
                  <a:schemeClr val="accent3"/>
                </a:solidFill>
              </a:rPr>
              <a:t>Presented by: [Strivers]  |  [Nakul </a:t>
            </a:r>
            <a:r>
              <a:rPr lang="en-US" sz="1200">
                <a:solidFill>
                  <a:schemeClr val="accent3"/>
                </a:solidFill>
              </a:rPr>
              <a:t>kumar</a:t>
            </a:r>
            <a:r>
              <a:rPr lang="en-US" sz="1200" dirty="0">
                <a:solidFill>
                  <a:schemeClr val="accent3"/>
                </a:solidFill>
              </a:rPr>
              <a:t> </a:t>
            </a:r>
            <a:r>
              <a:rPr lang="en-US" sz="1200" dirty="0" err="1">
                <a:solidFill>
                  <a:schemeClr val="accent3"/>
                </a:solidFill>
              </a:rPr>
              <a:t>sharma</a:t>
            </a:r>
            <a:r>
              <a:rPr lang="en-US" sz="1200" dirty="0">
                <a:solidFill>
                  <a:schemeClr val="accent3"/>
                </a:solidFill>
              </a:rPr>
              <a:t>]</a:t>
            </a:r>
            <a:endParaRPr lang="en-US" sz="1200" dirty="0"/>
          </a:p>
        </p:txBody>
      </p:sp>
      <p:sp>
        <p:nvSpPr>
          <p:cNvPr id="10" name="Shape 8"/>
          <p:cNvSpPr/>
          <p:nvPr/>
        </p:nvSpPr>
        <p:spPr>
          <a:xfrm>
            <a:off x="5029200" y="594360"/>
            <a:ext cx="3657600" cy="3886200"/>
          </a:xfrm>
          <a:prstGeom prst="roundRect">
            <a:avLst>
              <a:gd name="adj" fmla="val 3750"/>
            </a:avLst>
          </a:prstGeom>
          <a:solidFill>
            <a:schemeClr val="bg2"/>
          </a:solidFill>
          <a:ln w="9525">
            <a:solidFill>
              <a:schemeClr val="accent1">
                <a:alpha val="55000"/>
              </a:schemeClr>
            </a:solidFill>
            <a:prstDash val="solid"/>
          </a:ln>
        </p:spPr>
      </p:sp>
      <p:sp>
        <p:nvSpPr>
          <p:cNvPr id="11" name="Shape 9"/>
          <p:cNvSpPr/>
          <p:nvPr/>
        </p:nvSpPr>
        <p:spPr>
          <a:xfrm>
            <a:off x="5230368" y="768096"/>
            <a:ext cx="100584" cy="100584"/>
          </a:xfrm>
          <a:prstGeom prst="ellipse">
            <a:avLst/>
          </a:prstGeom>
          <a:solidFill>
            <a:schemeClr val="accent6"/>
          </a:solidFill>
          <a:ln/>
        </p:spPr>
      </p:sp>
      <p:sp>
        <p:nvSpPr>
          <p:cNvPr id="12" name="Shape 10"/>
          <p:cNvSpPr/>
          <p:nvPr/>
        </p:nvSpPr>
        <p:spPr>
          <a:xfrm>
            <a:off x="5413248" y="768096"/>
            <a:ext cx="100584" cy="100584"/>
          </a:xfrm>
          <a:prstGeom prst="ellipse">
            <a:avLst/>
          </a:prstGeom>
          <a:solidFill>
            <a:schemeClr val="accent5"/>
          </a:solidFill>
          <a:ln/>
        </p:spPr>
      </p:sp>
      <p:sp>
        <p:nvSpPr>
          <p:cNvPr id="13" name="Shape 11"/>
          <p:cNvSpPr/>
          <p:nvPr/>
        </p:nvSpPr>
        <p:spPr>
          <a:xfrm>
            <a:off x="5596128" y="768096"/>
            <a:ext cx="100584" cy="100584"/>
          </a:xfrm>
          <a:prstGeom prst="ellipse">
            <a:avLst/>
          </a:prstGeom>
          <a:solidFill>
            <a:schemeClr val="accent4"/>
          </a:solidFill>
          <a:ln/>
        </p:spPr>
      </p:sp>
      <p:sp>
        <p:nvSpPr>
          <p:cNvPr id="14" name="Text 12"/>
          <p:cNvSpPr txBox="1"/>
          <p:nvPr/>
        </p:nvSpPr>
        <p:spPr>
          <a:xfrm>
            <a:off x="5897880" y="713232"/>
            <a:ext cx="1280160" cy="228600"/>
          </a:xfrm>
          <a:prstGeom prst="rect">
            <a:avLst/>
          </a:prstGeom>
          <a:noFill/>
          <a:ln/>
        </p:spPr>
        <p:txBody>
          <a:bodyPr wrap="square" lIns="0" tIns="0" rIns="0" bIns="0" rtlCol="0" anchor="ctr"/>
          <a:lstStyle/>
          <a:p>
            <a:pPr marL="0" indent="0">
              <a:buNone/>
            </a:pPr>
            <a:r>
              <a:rPr lang="en-US" sz="1000" b="1" kern="0" spc="200" dirty="0">
                <a:solidFill>
                  <a:schemeClr val="tx2"/>
                </a:solidFill>
              </a:rPr>
              <a:t>THIS WEEK</a:t>
            </a:r>
            <a:endParaRPr lang="en-US" sz="1000" dirty="0"/>
          </a:p>
        </p:txBody>
      </p:sp>
      <p:sp>
        <p:nvSpPr>
          <p:cNvPr id="15" name="Text 13"/>
          <p:cNvSpPr txBox="1"/>
          <p:nvPr/>
        </p:nvSpPr>
        <p:spPr>
          <a:xfrm>
            <a:off x="7498080" y="713232"/>
            <a:ext cx="1005840" cy="237744"/>
          </a:xfrm>
          <a:prstGeom prst="roundRect">
            <a:avLst>
              <a:gd name="adj" fmla="val 50000"/>
            </a:avLst>
          </a:prstGeom>
          <a:solidFill>
            <a:schemeClr val="accent3">
              <a:alpha val="20000"/>
            </a:schemeClr>
          </a:solidFill>
          <a:ln w="12700">
            <a:solidFill>
              <a:schemeClr val="accent3">
                <a:alpha val="70000"/>
              </a:schemeClr>
            </a:solidFill>
          </a:ln>
        </p:spPr>
        <p:txBody>
          <a:bodyPr wrap="square" lIns="0" tIns="0" rIns="0" bIns="0" rtlCol="0" anchor="ctr"/>
          <a:lstStyle/>
          <a:p>
            <a:pPr marL="0" indent="0" algn="ctr">
              <a:buNone/>
            </a:pPr>
            <a:r>
              <a:rPr lang="en-US" sz="1000" b="1" kern="0" spc="100" dirty="0">
                <a:solidFill>
                  <a:schemeClr val="accent3"/>
                </a:solidFill>
              </a:rPr>
              <a:t>SELF-HEALED</a:t>
            </a:r>
            <a:endParaRPr lang="en-US" sz="1000" dirty="0"/>
          </a:p>
        </p:txBody>
      </p:sp>
      <p:sp>
        <p:nvSpPr>
          <p:cNvPr id="16" name="Text 14"/>
          <p:cNvSpPr txBox="1"/>
          <p:nvPr/>
        </p:nvSpPr>
        <p:spPr>
          <a:xfrm>
            <a:off x="5257800" y="1188720"/>
            <a:ext cx="588874" cy="237744"/>
          </a:xfrm>
          <a:prstGeom prst="rect">
            <a:avLst/>
          </a:prstGeom>
          <a:noFill/>
          <a:ln/>
        </p:spPr>
        <p:txBody>
          <a:bodyPr wrap="square" lIns="0" tIns="0" rIns="0" bIns="0" rtlCol="0" anchor="ctr"/>
          <a:lstStyle/>
          <a:p>
            <a:pPr marL="0" indent="0" algn="ctr">
              <a:buNone/>
            </a:pPr>
            <a:r>
              <a:rPr lang="en-US" sz="1000" b="1" dirty="0">
                <a:solidFill>
                  <a:schemeClr val="tx2"/>
                </a:solidFill>
              </a:rPr>
              <a:t>MON</a:t>
            </a:r>
            <a:endParaRPr lang="en-US" sz="1000" dirty="0"/>
          </a:p>
        </p:txBody>
      </p:sp>
      <p:sp>
        <p:nvSpPr>
          <p:cNvPr id="17" name="Shape 15"/>
          <p:cNvSpPr/>
          <p:nvPr/>
        </p:nvSpPr>
        <p:spPr>
          <a:xfrm>
            <a:off x="5257800" y="1426464"/>
            <a:ext cx="588874" cy="2688336"/>
          </a:xfrm>
          <a:prstGeom prst="roundRect">
            <a:avLst>
              <a:gd name="adj" fmla="val 7764"/>
            </a:avLst>
          </a:prstGeom>
          <a:solidFill>
            <a:schemeClr val="bg1">
              <a:alpha val="65000"/>
            </a:schemeClr>
          </a:solidFill>
          <a:ln w="6350">
            <a:solidFill>
              <a:schemeClr val="tx2">
                <a:alpha val="20000"/>
              </a:schemeClr>
            </a:solidFill>
            <a:prstDash val="solid"/>
          </a:ln>
        </p:spPr>
      </p:sp>
      <p:sp>
        <p:nvSpPr>
          <p:cNvPr id="18" name="Text 16"/>
          <p:cNvSpPr txBox="1"/>
          <p:nvPr/>
        </p:nvSpPr>
        <p:spPr>
          <a:xfrm>
            <a:off x="5910682" y="1188720"/>
            <a:ext cx="588874" cy="237744"/>
          </a:xfrm>
          <a:prstGeom prst="rect">
            <a:avLst/>
          </a:prstGeom>
          <a:noFill/>
          <a:ln/>
        </p:spPr>
        <p:txBody>
          <a:bodyPr wrap="square" lIns="0" tIns="0" rIns="0" bIns="0" rtlCol="0" anchor="ctr"/>
          <a:lstStyle/>
          <a:p>
            <a:pPr marL="0" indent="0" algn="ctr">
              <a:buNone/>
            </a:pPr>
            <a:r>
              <a:rPr lang="en-US" sz="1000" b="1" dirty="0">
                <a:solidFill>
                  <a:schemeClr val="tx2"/>
                </a:solidFill>
              </a:rPr>
              <a:t>TUE</a:t>
            </a:r>
            <a:endParaRPr lang="en-US" sz="1000" dirty="0"/>
          </a:p>
        </p:txBody>
      </p:sp>
      <p:sp>
        <p:nvSpPr>
          <p:cNvPr id="19" name="Shape 17"/>
          <p:cNvSpPr/>
          <p:nvPr/>
        </p:nvSpPr>
        <p:spPr>
          <a:xfrm>
            <a:off x="5910682" y="1426464"/>
            <a:ext cx="588874" cy="2688336"/>
          </a:xfrm>
          <a:prstGeom prst="roundRect">
            <a:avLst>
              <a:gd name="adj" fmla="val 7764"/>
            </a:avLst>
          </a:prstGeom>
          <a:solidFill>
            <a:schemeClr val="bg1">
              <a:alpha val="65000"/>
            </a:schemeClr>
          </a:solidFill>
          <a:ln w="6350">
            <a:solidFill>
              <a:schemeClr val="tx2">
                <a:alpha val="20000"/>
              </a:schemeClr>
            </a:solidFill>
            <a:prstDash val="solid"/>
          </a:ln>
        </p:spPr>
      </p:sp>
      <p:sp>
        <p:nvSpPr>
          <p:cNvPr id="20" name="Text 18"/>
          <p:cNvSpPr txBox="1"/>
          <p:nvPr/>
        </p:nvSpPr>
        <p:spPr>
          <a:xfrm>
            <a:off x="6563563" y="1188720"/>
            <a:ext cx="588874" cy="237744"/>
          </a:xfrm>
          <a:prstGeom prst="rect">
            <a:avLst/>
          </a:prstGeom>
          <a:noFill/>
          <a:ln/>
        </p:spPr>
        <p:txBody>
          <a:bodyPr wrap="square" lIns="0" tIns="0" rIns="0" bIns="0" rtlCol="0" anchor="ctr"/>
          <a:lstStyle/>
          <a:p>
            <a:pPr marL="0" indent="0" algn="ctr">
              <a:buNone/>
            </a:pPr>
            <a:r>
              <a:rPr lang="en-US" sz="1000" b="1" dirty="0">
                <a:solidFill>
                  <a:schemeClr val="tx2"/>
                </a:solidFill>
              </a:rPr>
              <a:t>WED</a:t>
            </a:r>
            <a:endParaRPr lang="en-US" sz="1000" dirty="0"/>
          </a:p>
        </p:txBody>
      </p:sp>
      <p:sp>
        <p:nvSpPr>
          <p:cNvPr id="21" name="Shape 19"/>
          <p:cNvSpPr/>
          <p:nvPr/>
        </p:nvSpPr>
        <p:spPr>
          <a:xfrm>
            <a:off x="6563563" y="1426464"/>
            <a:ext cx="588874" cy="2688336"/>
          </a:xfrm>
          <a:prstGeom prst="roundRect">
            <a:avLst>
              <a:gd name="adj" fmla="val 7764"/>
            </a:avLst>
          </a:prstGeom>
          <a:solidFill>
            <a:schemeClr val="bg1">
              <a:alpha val="65000"/>
            </a:schemeClr>
          </a:solidFill>
          <a:ln w="6350">
            <a:solidFill>
              <a:schemeClr val="tx2">
                <a:alpha val="20000"/>
              </a:schemeClr>
            </a:solidFill>
            <a:prstDash val="solid"/>
          </a:ln>
        </p:spPr>
      </p:sp>
      <p:sp>
        <p:nvSpPr>
          <p:cNvPr id="22" name="Text 20"/>
          <p:cNvSpPr txBox="1"/>
          <p:nvPr/>
        </p:nvSpPr>
        <p:spPr>
          <a:xfrm>
            <a:off x="7216445" y="1188720"/>
            <a:ext cx="588874" cy="237744"/>
          </a:xfrm>
          <a:prstGeom prst="rect">
            <a:avLst/>
          </a:prstGeom>
          <a:noFill/>
          <a:ln/>
        </p:spPr>
        <p:txBody>
          <a:bodyPr wrap="square" lIns="0" tIns="0" rIns="0" bIns="0" rtlCol="0" anchor="ctr"/>
          <a:lstStyle/>
          <a:p>
            <a:pPr marL="0" indent="0" algn="ctr">
              <a:buNone/>
            </a:pPr>
            <a:r>
              <a:rPr lang="en-US" sz="1000" b="1" dirty="0">
                <a:solidFill>
                  <a:schemeClr val="tx2"/>
                </a:solidFill>
              </a:rPr>
              <a:t>THU</a:t>
            </a:r>
            <a:endParaRPr lang="en-US" sz="1000" dirty="0"/>
          </a:p>
        </p:txBody>
      </p:sp>
      <p:sp>
        <p:nvSpPr>
          <p:cNvPr id="23" name="Shape 21"/>
          <p:cNvSpPr/>
          <p:nvPr/>
        </p:nvSpPr>
        <p:spPr>
          <a:xfrm>
            <a:off x="7216445" y="1426464"/>
            <a:ext cx="588874" cy="2688336"/>
          </a:xfrm>
          <a:prstGeom prst="roundRect">
            <a:avLst>
              <a:gd name="adj" fmla="val 7764"/>
            </a:avLst>
          </a:prstGeom>
          <a:solidFill>
            <a:schemeClr val="bg1">
              <a:alpha val="65000"/>
            </a:schemeClr>
          </a:solidFill>
          <a:ln w="6350">
            <a:solidFill>
              <a:schemeClr val="tx2">
                <a:alpha val="20000"/>
              </a:schemeClr>
            </a:solidFill>
            <a:prstDash val="solid"/>
          </a:ln>
        </p:spPr>
      </p:sp>
      <p:sp>
        <p:nvSpPr>
          <p:cNvPr id="24" name="Text 22"/>
          <p:cNvSpPr txBox="1"/>
          <p:nvPr/>
        </p:nvSpPr>
        <p:spPr>
          <a:xfrm>
            <a:off x="7869326" y="1188720"/>
            <a:ext cx="588874" cy="237744"/>
          </a:xfrm>
          <a:prstGeom prst="rect">
            <a:avLst/>
          </a:prstGeom>
          <a:noFill/>
          <a:ln/>
        </p:spPr>
        <p:txBody>
          <a:bodyPr wrap="square" lIns="0" tIns="0" rIns="0" bIns="0" rtlCol="0" anchor="ctr"/>
          <a:lstStyle/>
          <a:p>
            <a:pPr marL="0" indent="0" algn="ctr">
              <a:buNone/>
            </a:pPr>
            <a:r>
              <a:rPr lang="en-US" sz="1000" b="1" dirty="0">
                <a:solidFill>
                  <a:schemeClr val="tx2"/>
                </a:solidFill>
              </a:rPr>
              <a:t>FRI</a:t>
            </a:r>
            <a:endParaRPr lang="en-US" sz="1000" dirty="0"/>
          </a:p>
        </p:txBody>
      </p:sp>
      <p:sp>
        <p:nvSpPr>
          <p:cNvPr id="25" name="Shape 23"/>
          <p:cNvSpPr/>
          <p:nvPr/>
        </p:nvSpPr>
        <p:spPr>
          <a:xfrm>
            <a:off x="7869326" y="1426464"/>
            <a:ext cx="588874" cy="2688336"/>
          </a:xfrm>
          <a:prstGeom prst="roundRect">
            <a:avLst>
              <a:gd name="adj" fmla="val 7764"/>
            </a:avLst>
          </a:prstGeom>
          <a:solidFill>
            <a:schemeClr val="bg1">
              <a:alpha val="65000"/>
            </a:schemeClr>
          </a:solidFill>
          <a:ln w="6350">
            <a:solidFill>
              <a:schemeClr val="tx2">
                <a:alpha val="20000"/>
              </a:schemeClr>
            </a:solidFill>
            <a:prstDash val="solid"/>
          </a:ln>
        </p:spPr>
      </p:sp>
      <p:sp>
        <p:nvSpPr>
          <p:cNvPr id="26" name="Shape 24"/>
          <p:cNvSpPr/>
          <p:nvPr/>
        </p:nvSpPr>
        <p:spPr>
          <a:xfrm>
            <a:off x="5294376" y="1449324"/>
            <a:ext cx="515722" cy="626364"/>
          </a:xfrm>
          <a:prstGeom prst="roundRect">
            <a:avLst>
              <a:gd name="adj" fmla="val 7092"/>
            </a:avLst>
          </a:prstGeom>
          <a:solidFill>
            <a:schemeClr val="accent1"/>
          </a:solidFill>
          <a:ln/>
        </p:spPr>
      </p:sp>
      <p:sp>
        <p:nvSpPr>
          <p:cNvPr id="27" name="Shape 25"/>
          <p:cNvSpPr/>
          <p:nvPr/>
        </p:nvSpPr>
        <p:spPr>
          <a:xfrm>
            <a:off x="5294376" y="2289429"/>
            <a:ext cx="515722" cy="458343"/>
          </a:xfrm>
          <a:prstGeom prst="roundRect">
            <a:avLst>
              <a:gd name="adj" fmla="val 7980"/>
            </a:avLst>
          </a:prstGeom>
          <a:solidFill>
            <a:schemeClr val="accent2"/>
          </a:solidFill>
          <a:ln/>
        </p:spPr>
      </p:sp>
      <p:sp>
        <p:nvSpPr>
          <p:cNvPr id="28" name="Shape 26"/>
          <p:cNvSpPr/>
          <p:nvPr/>
        </p:nvSpPr>
        <p:spPr>
          <a:xfrm>
            <a:off x="5294376" y="3129534"/>
            <a:ext cx="515722" cy="626364"/>
          </a:xfrm>
          <a:prstGeom prst="roundRect">
            <a:avLst>
              <a:gd name="adj" fmla="val 7092"/>
            </a:avLst>
          </a:prstGeom>
          <a:solidFill>
            <a:schemeClr val="accent1"/>
          </a:solidFill>
          <a:ln/>
        </p:spPr>
      </p:sp>
      <p:sp>
        <p:nvSpPr>
          <p:cNvPr id="29" name="Shape 27"/>
          <p:cNvSpPr/>
          <p:nvPr/>
        </p:nvSpPr>
        <p:spPr>
          <a:xfrm>
            <a:off x="5947258" y="1617345"/>
            <a:ext cx="515722" cy="458343"/>
          </a:xfrm>
          <a:prstGeom prst="roundRect">
            <a:avLst>
              <a:gd name="adj" fmla="val 7980"/>
            </a:avLst>
          </a:prstGeom>
          <a:solidFill>
            <a:schemeClr val="accent2"/>
          </a:solidFill>
          <a:ln/>
        </p:spPr>
      </p:sp>
      <p:sp>
        <p:nvSpPr>
          <p:cNvPr id="30" name="Shape 28"/>
          <p:cNvSpPr/>
          <p:nvPr/>
        </p:nvSpPr>
        <p:spPr>
          <a:xfrm>
            <a:off x="5947258" y="2289429"/>
            <a:ext cx="515722" cy="626364"/>
          </a:xfrm>
          <a:prstGeom prst="roundRect">
            <a:avLst>
              <a:gd name="adj" fmla="val 7092"/>
            </a:avLst>
          </a:prstGeom>
          <a:solidFill>
            <a:schemeClr val="accent1"/>
          </a:solidFill>
          <a:ln/>
        </p:spPr>
      </p:sp>
      <p:sp>
        <p:nvSpPr>
          <p:cNvPr id="31" name="Shape 29"/>
          <p:cNvSpPr/>
          <p:nvPr/>
        </p:nvSpPr>
        <p:spPr>
          <a:xfrm>
            <a:off x="5947258" y="3297555"/>
            <a:ext cx="515722" cy="458343"/>
          </a:xfrm>
          <a:prstGeom prst="roundRect">
            <a:avLst>
              <a:gd name="adj" fmla="val 7980"/>
            </a:avLst>
          </a:prstGeom>
          <a:solidFill>
            <a:schemeClr val="accent2"/>
          </a:solidFill>
          <a:ln/>
        </p:spPr>
      </p:sp>
      <p:sp>
        <p:nvSpPr>
          <p:cNvPr id="32" name="Shape 30"/>
          <p:cNvSpPr/>
          <p:nvPr/>
        </p:nvSpPr>
        <p:spPr>
          <a:xfrm>
            <a:off x="6600139" y="1449324"/>
            <a:ext cx="515722" cy="626364"/>
          </a:xfrm>
          <a:prstGeom prst="roundRect">
            <a:avLst>
              <a:gd name="adj" fmla="val 7092"/>
            </a:avLst>
          </a:prstGeom>
          <a:solidFill>
            <a:schemeClr val="accent1"/>
          </a:solidFill>
          <a:ln/>
        </p:spPr>
      </p:sp>
      <p:sp>
        <p:nvSpPr>
          <p:cNvPr id="33" name="Shape 31"/>
          <p:cNvSpPr/>
          <p:nvPr/>
        </p:nvSpPr>
        <p:spPr>
          <a:xfrm>
            <a:off x="6600139" y="2457450"/>
            <a:ext cx="515722" cy="458343"/>
          </a:xfrm>
          <a:prstGeom prst="roundRect">
            <a:avLst>
              <a:gd name="adj" fmla="val 7980"/>
            </a:avLst>
          </a:prstGeom>
          <a:solidFill>
            <a:schemeClr val="accent3"/>
          </a:solidFill>
          <a:ln w="19050">
            <a:solidFill>
              <a:schemeClr val="tx1"/>
            </a:solidFill>
            <a:prstDash val="solid"/>
          </a:ln>
        </p:spPr>
      </p:sp>
      <p:sp>
        <p:nvSpPr>
          <p:cNvPr id="34" name="Shape 32"/>
          <p:cNvSpPr/>
          <p:nvPr/>
        </p:nvSpPr>
        <p:spPr>
          <a:xfrm>
            <a:off x="6600139" y="3297555"/>
            <a:ext cx="515722" cy="458343"/>
          </a:xfrm>
          <a:prstGeom prst="roundRect">
            <a:avLst>
              <a:gd name="adj" fmla="val 7980"/>
            </a:avLst>
          </a:prstGeom>
          <a:solidFill>
            <a:schemeClr val="accent2"/>
          </a:solidFill>
          <a:ln/>
        </p:spPr>
      </p:sp>
      <p:sp>
        <p:nvSpPr>
          <p:cNvPr id="35" name="Shape 33"/>
          <p:cNvSpPr/>
          <p:nvPr/>
        </p:nvSpPr>
        <p:spPr>
          <a:xfrm>
            <a:off x="7253021" y="1785366"/>
            <a:ext cx="515722" cy="626364"/>
          </a:xfrm>
          <a:prstGeom prst="roundRect">
            <a:avLst>
              <a:gd name="adj" fmla="val 7092"/>
            </a:avLst>
          </a:prstGeom>
          <a:solidFill>
            <a:schemeClr val="accent1"/>
          </a:solidFill>
          <a:ln/>
        </p:spPr>
      </p:sp>
      <p:sp>
        <p:nvSpPr>
          <p:cNvPr id="36" name="Shape 34"/>
          <p:cNvSpPr/>
          <p:nvPr/>
        </p:nvSpPr>
        <p:spPr>
          <a:xfrm>
            <a:off x="7253021" y="2625471"/>
            <a:ext cx="515722" cy="626364"/>
          </a:xfrm>
          <a:prstGeom prst="roundRect">
            <a:avLst>
              <a:gd name="adj" fmla="val 7092"/>
            </a:avLst>
          </a:prstGeom>
          <a:solidFill>
            <a:schemeClr val="accent2"/>
          </a:solidFill>
          <a:ln/>
        </p:spPr>
      </p:sp>
      <p:sp>
        <p:nvSpPr>
          <p:cNvPr id="37" name="Shape 35"/>
          <p:cNvSpPr/>
          <p:nvPr/>
        </p:nvSpPr>
        <p:spPr>
          <a:xfrm>
            <a:off x="7905902" y="1617345"/>
            <a:ext cx="515722" cy="626364"/>
          </a:xfrm>
          <a:prstGeom prst="roundRect">
            <a:avLst>
              <a:gd name="adj" fmla="val 7092"/>
            </a:avLst>
          </a:prstGeom>
          <a:solidFill>
            <a:schemeClr val="accent2"/>
          </a:solidFill>
          <a:ln/>
        </p:spPr>
      </p:sp>
      <p:sp>
        <p:nvSpPr>
          <p:cNvPr id="38" name="Shape 36"/>
          <p:cNvSpPr/>
          <p:nvPr/>
        </p:nvSpPr>
        <p:spPr>
          <a:xfrm>
            <a:off x="7905902" y="2457450"/>
            <a:ext cx="515722" cy="626364"/>
          </a:xfrm>
          <a:prstGeom prst="roundRect">
            <a:avLst>
              <a:gd name="adj" fmla="val 7092"/>
            </a:avLst>
          </a:prstGeom>
          <a:solidFill>
            <a:schemeClr val="accent1"/>
          </a:solidFill>
          <a:ln/>
        </p:spPr>
      </p:sp>
      <p:sp>
        <p:nvSpPr>
          <p:cNvPr id="39" name="Shape 37"/>
          <p:cNvSpPr/>
          <p:nvPr/>
        </p:nvSpPr>
        <p:spPr>
          <a:xfrm>
            <a:off x="7905902" y="3465576"/>
            <a:ext cx="515722" cy="458343"/>
          </a:xfrm>
          <a:prstGeom prst="roundRect">
            <a:avLst>
              <a:gd name="adj" fmla="val 7980"/>
            </a:avLst>
          </a:prstGeom>
          <a:solidFill>
            <a:schemeClr val="accent2"/>
          </a:solidFill>
          <a:ln/>
        </p:spPr>
      </p:sp>
      <p:sp>
        <p:nvSpPr>
          <p:cNvPr id="40" name="Shape 38"/>
          <p:cNvSpPr/>
          <p:nvPr/>
        </p:nvSpPr>
        <p:spPr>
          <a:xfrm>
            <a:off x="5303520" y="4201668"/>
            <a:ext cx="128016" cy="128016"/>
          </a:xfrm>
          <a:prstGeom prst="roundRect">
            <a:avLst>
              <a:gd name="adj" fmla="val 21429"/>
            </a:avLst>
          </a:prstGeom>
          <a:solidFill>
            <a:schemeClr val="accent1"/>
          </a:solidFill>
          <a:ln/>
        </p:spPr>
      </p:sp>
      <p:sp>
        <p:nvSpPr>
          <p:cNvPr id="41" name="Text 39"/>
          <p:cNvSpPr txBox="1"/>
          <p:nvPr/>
        </p:nvSpPr>
        <p:spPr>
          <a:xfrm>
            <a:off x="5486400" y="4160520"/>
            <a:ext cx="822960" cy="210312"/>
          </a:xfrm>
          <a:prstGeom prst="rect">
            <a:avLst/>
          </a:prstGeom>
          <a:noFill/>
          <a:ln/>
        </p:spPr>
        <p:txBody>
          <a:bodyPr wrap="square" lIns="0" tIns="0" rIns="0" bIns="0" rtlCol="0" anchor="ctr"/>
          <a:lstStyle/>
          <a:p>
            <a:pPr marL="0" indent="0">
              <a:buNone/>
            </a:pPr>
            <a:r>
              <a:rPr lang="en-US" sz="1000" dirty="0">
                <a:solidFill>
                  <a:schemeClr val="tx2"/>
                </a:solidFill>
              </a:rPr>
              <a:t>Fixed</a:t>
            </a:r>
            <a:endParaRPr lang="en-US" sz="1000" dirty="0"/>
          </a:p>
        </p:txBody>
      </p:sp>
      <p:sp>
        <p:nvSpPr>
          <p:cNvPr id="42" name="Shape 40"/>
          <p:cNvSpPr/>
          <p:nvPr/>
        </p:nvSpPr>
        <p:spPr>
          <a:xfrm>
            <a:off x="6355080" y="4201668"/>
            <a:ext cx="128016" cy="128016"/>
          </a:xfrm>
          <a:prstGeom prst="roundRect">
            <a:avLst>
              <a:gd name="adj" fmla="val 21429"/>
            </a:avLst>
          </a:prstGeom>
          <a:solidFill>
            <a:schemeClr val="accent2"/>
          </a:solidFill>
          <a:ln/>
        </p:spPr>
      </p:sp>
      <p:sp>
        <p:nvSpPr>
          <p:cNvPr id="43" name="Text 41"/>
          <p:cNvSpPr txBox="1"/>
          <p:nvPr/>
        </p:nvSpPr>
        <p:spPr>
          <a:xfrm>
            <a:off x="6537960" y="4160520"/>
            <a:ext cx="822960" cy="210312"/>
          </a:xfrm>
          <a:prstGeom prst="rect">
            <a:avLst/>
          </a:prstGeom>
          <a:noFill/>
          <a:ln/>
        </p:spPr>
        <p:txBody>
          <a:bodyPr wrap="square" lIns="0" tIns="0" rIns="0" bIns="0" rtlCol="0" anchor="ctr"/>
          <a:lstStyle/>
          <a:p>
            <a:pPr marL="0" indent="0">
              <a:buNone/>
            </a:pPr>
            <a:r>
              <a:rPr lang="en-US" sz="1000" dirty="0">
                <a:solidFill>
                  <a:schemeClr val="tx2"/>
                </a:solidFill>
              </a:rPr>
              <a:t>Flexible</a:t>
            </a:r>
            <a:endParaRPr lang="en-US" sz="1000" dirty="0"/>
          </a:p>
        </p:txBody>
      </p:sp>
      <p:sp>
        <p:nvSpPr>
          <p:cNvPr id="44" name="Shape 42"/>
          <p:cNvSpPr/>
          <p:nvPr/>
        </p:nvSpPr>
        <p:spPr>
          <a:xfrm>
            <a:off x="7406640" y="4201668"/>
            <a:ext cx="128016" cy="128016"/>
          </a:xfrm>
          <a:prstGeom prst="roundRect">
            <a:avLst>
              <a:gd name="adj" fmla="val 21429"/>
            </a:avLst>
          </a:prstGeom>
          <a:solidFill>
            <a:schemeClr val="accent3"/>
          </a:solidFill>
          <a:ln/>
        </p:spPr>
      </p:sp>
      <p:sp>
        <p:nvSpPr>
          <p:cNvPr id="45" name="Text 43"/>
          <p:cNvSpPr txBox="1"/>
          <p:nvPr/>
        </p:nvSpPr>
        <p:spPr>
          <a:xfrm>
            <a:off x="7589520" y="4160520"/>
            <a:ext cx="822960" cy="210312"/>
          </a:xfrm>
          <a:prstGeom prst="rect">
            <a:avLst/>
          </a:prstGeom>
          <a:noFill/>
          <a:ln/>
        </p:spPr>
        <p:txBody>
          <a:bodyPr wrap="square" lIns="0" tIns="0" rIns="0" bIns="0" rtlCol="0" anchor="ctr"/>
          <a:lstStyle/>
          <a:p>
            <a:pPr marL="0" indent="0">
              <a:buNone/>
            </a:pPr>
            <a:r>
              <a:rPr lang="en-US" sz="1000" dirty="0">
                <a:solidFill>
                  <a:schemeClr val="tx2"/>
                </a:solidFill>
              </a:rPr>
              <a:t>Recovered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371600" y="2286000"/>
            <a:ext cx="4114800" cy="4114800"/>
          </a:xfrm>
          <a:prstGeom prst="ellipse">
            <a:avLst/>
          </a:prstGeom>
          <a:solidFill>
            <a:schemeClr val="accent6">
              <a:alpha val="8000"/>
            </a:schemeClr>
          </a:solidFill>
          <a:ln/>
        </p:spPr>
      </p:sp>
      <p:sp>
        <p:nvSpPr>
          <p:cNvPr id="3" name="Text 0"/>
          <p:cNvSpPr>
            <a:spLocks noGrp="1"/>
          </p:cNvSpPr>
          <p:nvPr>
            <p:ph type="title" idx="100" hasCustomPrompt="1"/>
          </p:nvPr>
        </p:nvSpPr>
        <p:spPr>
          <a:xfrm>
            <a:off x="457200" y="320040"/>
            <a:ext cx="8229600" cy="868680"/>
          </a:xfrm>
          <a:prstGeom prst="rect">
            <a:avLst/>
          </a:prstGeom>
          <a:noFill/>
          <a:ln/>
        </p:spPr>
        <p:txBody>
          <a:bodyPr wrap="square" lIns="0" tIns="0" rIns="0" bIns="0" rtlCol="0" anchor="t"/>
          <a:lstStyle/>
          <a:p>
            <a:pPr marL="0" indent="0" algn="l">
              <a:buNone/>
            </a:pPr>
            <a:r>
              <a:rPr lang="en-US" sz="2600" b="1" dirty="0">
                <a:solidFill>
                  <a:schemeClr val="tx1"/>
                </a:solidFill>
              </a:rPr>
              <a:t>Students Don't Just Need Plans. They Need Recovery.</a:t>
            </a:r>
            <a:endParaRPr lang="en-US" sz="2600" dirty="0"/>
          </a:p>
        </p:txBody>
      </p:sp>
      <p:sp>
        <p:nvSpPr>
          <p:cNvPr id="4" name="Shape 2"/>
          <p:cNvSpPr/>
          <p:nvPr/>
        </p:nvSpPr>
        <p:spPr>
          <a:xfrm>
            <a:off x="457200" y="1371600"/>
            <a:ext cx="4297680" cy="3154680"/>
          </a:xfrm>
          <a:prstGeom prst="roundRect">
            <a:avLst>
              <a:gd name="adj" fmla="val 3478"/>
            </a:avLst>
          </a:prstGeom>
          <a:solidFill>
            <a:schemeClr val="bg2"/>
          </a:solidFill>
          <a:ln w="9525">
            <a:solidFill>
              <a:schemeClr val="accent6">
                <a:alpha val="50000"/>
              </a:schemeClr>
            </a:solidFill>
            <a:prstDash val="solid"/>
          </a:ln>
        </p:spPr>
      </p:sp>
      <p:sp>
        <p:nvSpPr>
          <p:cNvPr id="5" name="Text 3"/>
          <p:cNvSpPr txBox="1"/>
          <p:nvPr/>
        </p:nvSpPr>
        <p:spPr>
          <a:xfrm>
            <a:off x="685800" y="1508760"/>
            <a:ext cx="1371600" cy="228600"/>
          </a:xfrm>
          <a:prstGeom prst="rect">
            <a:avLst/>
          </a:prstGeom>
          <a:noFill/>
          <a:ln/>
        </p:spPr>
        <p:txBody>
          <a:bodyPr wrap="square" lIns="0" tIns="0" rIns="0" bIns="0" rtlCol="0" anchor="ctr"/>
          <a:lstStyle/>
          <a:p>
            <a:pPr marL="0" indent="0">
              <a:buNone/>
            </a:pPr>
            <a:r>
              <a:rPr lang="en-US" sz="1000" b="1" kern="0" spc="200" dirty="0">
                <a:solidFill>
                  <a:schemeClr val="tx2"/>
                </a:solidFill>
              </a:rPr>
              <a:t>THIS WEEK</a:t>
            </a:r>
            <a:endParaRPr lang="en-US" sz="1000" dirty="0"/>
          </a:p>
        </p:txBody>
      </p:sp>
      <p:sp>
        <p:nvSpPr>
          <p:cNvPr id="6" name="Text 4"/>
          <p:cNvSpPr txBox="1"/>
          <p:nvPr/>
        </p:nvSpPr>
        <p:spPr>
          <a:xfrm>
            <a:off x="3703320" y="1490472"/>
            <a:ext cx="868680" cy="246888"/>
          </a:xfrm>
          <a:prstGeom prst="roundRect">
            <a:avLst>
              <a:gd name="adj" fmla="val 50000"/>
            </a:avLst>
          </a:prstGeom>
          <a:solidFill>
            <a:schemeClr val="accent6">
              <a:alpha val="20000"/>
            </a:schemeClr>
          </a:solidFill>
          <a:ln w="12700">
            <a:solidFill>
              <a:schemeClr val="accent6">
                <a:alpha val="70000"/>
              </a:schemeClr>
            </a:solidFill>
          </a:ln>
        </p:spPr>
        <p:txBody>
          <a:bodyPr wrap="square" lIns="0" tIns="0" rIns="0" bIns="0" rtlCol="0" anchor="ctr"/>
          <a:lstStyle/>
          <a:p>
            <a:pPr marL="0" indent="0" algn="ctr">
              <a:buNone/>
            </a:pPr>
            <a:r>
              <a:rPr lang="en-US" sz="1000" b="1" kern="0" spc="100" dirty="0">
                <a:solidFill>
                  <a:schemeClr val="accent6"/>
                </a:solidFill>
              </a:rPr>
              <a:t>OVERLOAD</a:t>
            </a:r>
            <a:endParaRPr lang="en-US" sz="1000" dirty="0"/>
          </a:p>
        </p:txBody>
      </p:sp>
      <p:sp>
        <p:nvSpPr>
          <p:cNvPr id="7" name="Text 5"/>
          <p:cNvSpPr txBox="1"/>
          <p:nvPr/>
        </p:nvSpPr>
        <p:spPr>
          <a:xfrm rot="-240000">
            <a:off x="685800" y="1920240"/>
            <a:ext cx="2011680" cy="457200"/>
          </a:xfrm>
          <a:prstGeom prst="roundRect">
            <a:avLst>
              <a:gd name="adj" fmla="val 16000"/>
            </a:avLst>
          </a:prstGeom>
          <a:solidFill>
            <a:schemeClr val="accent1"/>
          </a:solidFill>
          <a:ln w="9525">
            <a:solidFill>
              <a:schemeClr val="tx1">
                <a:alpha val="45000"/>
              </a:schemeClr>
            </a:solidFill>
          </a:ln>
        </p:spPr>
        <p:txBody>
          <a:bodyPr wrap="square" lIns="63500" tIns="101600" rIns="101600" bIns="0" rtlCol="0" anchor="t"/>
          <a:lstStyle/>
          <a:p>
            <a:pPr marL="0" indent="0" algn="l">
              <a:buNone/>
            </a:pPr>
            <a:r>
              <a:rPr lang="en-US" sz="1200" b="1" dirty="0">
                <a:solidFill>
                  <a:schemeClr val="tx1"/>
                </a:solidFill>
              </a:rPr>
              <a:t>Class  9:00 AM</a:t>
            </a:r>
            <a:endParaRPr lang="en-US" sz="1200" dirty="0"/>
          </a:p>
        </p:txBody>
      </p:sp>
      <p:sp>
        <p:nvSpPr>
          <p:cNvPr id="8" name="Text 6"/>
          <p:cNvSpPr txBox="1"/>
          <p:nvPr/>
        </p:nvSpPr>
        <p:spPr>
          <a:xfrm rot="180000">
            <a:off x="2103120" y="2240280"/>
            <a:ext cx="2194560" cy="457200"/>
          </a:xfrm>
          <a:prstGeom prst="roundRect">
            <a:avLst>
              <a:gd name="adj" fmla="val 16000"/>
            </a:avLst>
          </a:prstGeom>
          <a:solidFill>
            <a:schemeClr val="accent5"/>
          </a:solidFill>
          <a:ln w="9525">
            <a:solidFill>
              <a:schemeClr val="tx1">
                <a:alpha val="45000"/>
              </a:schemeClr>
            </a:solidFill>
          </a:ln>
        </p:spPr>
        <p:txBody>
          <a:bodyPr wrap="square" lIns="63500" tIns="101600" rIns="101600" bIns="0" rtlCol="0" anchor="t"/>
          <a:lstStyle/>
          <a:p>
            <a:pPr marL="0" indent="0" algn="l">
              <a:buNone/>
            </a:pPr>
            <a:r>
              <a:rPr lang="en-US" sz="1200" b="1" dirty="0">
                <a:solidFill>
                  <a:schemeClr val="tx1"/>
                </a:solidFill>
              </a:rPr>
              <a:t>Assignment due Friday</a:t>
            </a:r>
            <a:endParaRPr lang="en-US" sz="1200" dirty="0"/>
          </a:p>
        </p:txBody>
      </p:sp>
      <p:sp>
        <p:nvSpPr>
          <p:cNvPr id="9" name="Text 7"/>
          <p:cNvSpPr txBox="1"/>
          <p:nvPr/>
        </p:nvSpPr>
        <p:spPr>
          <a:xfrm rot="-120000">
            <a:off x="731520" y="2651760"/>
            <a:ext cx="2103120" cy="457200"/>
          </a:xfrm>
          <a:prstGeom prst="roundRect">
            <a:avLst>
              <a:gd name="adj" fmla="val 16000"/>
            </a:avLst>
          </a:prstGeom>
          <a:solidFill>
            <a:schemeClr val="accent2"/>
          </a:solidFill>
          <a:ln w="9525">
            <a:solidFill>
              <a:schemeClr val="tx1">
                <a:alpha val="45000"/>
              </a:schemeClr>
            </a:solidFill>
          </a:ln>
        </p:spPr>
        <p:txBody>
          <a:bodyPr wrap="square" lIns="63500" tIns="101600" rIns="101600" bIns="0" rtlCol="0" anchor="t"/>
          <a:lstStyle/>
          <a:p>
            <a:pPr marL="0" indent="0" algn="l">
              <a:buNone/>
            </a:pPr>
            <a:r>
              <a:rPr lang="en-US" sz="1200" b="1" dirty="0">
                <a:solidFill>
                  <a:schemeClr val="tx1"/>
                </a:solidFill>
              </a:rPr>
              <a:t>Lab report</a:t>
            </a:r>
            <a:endParaRPr lang="en-US" sz="1200" dirty="0"/>
          </a:p>
        </p:txBody>
      </p:sp>
      <p:sp>
        <p:nvSpPr>
          <p:cNvPr id="10" name="Text 8"/>
          <p:cNvSpPr txBox="1"/>
          <p:nvPr/>
        </p:nvSpPr>
        <p:spPr>
          <a:xfrm rot="240000">
            <a:off x="2286000" y="2971800"/>
            <a:ext cx="2011680" cy="457200"/>
          </a:xfrm>
          <a:prstGeom prst="roundRect">
            <a:avLst>
              <a:gd name="adj" fmla="val 16000"/>
            </a:avLst>
          </a:prstGeom>
          <a:solidFill>
            <a:schemeClr val="accent6"/>
          </a:solidFill>
          <a:ln w="9525">
            <a:solidFill>
              <a:schemeClr val="tx1">
                <a:alpha val="45000"/>
              </a:schemeClr>
            </a:solidFill>
          </a:ln>
        </p:spPr>
        <p:txBody>
          <a:bodyPr wrap="square" lIns="63500" tIns="101600" rIns="101600" bIns="0" rtlCol="0" anchor="t"/>
          <a:lstStyle/>
          <a:p>
            <a:pPr marL="0" indent="0" algn="l">
              <a:buNone/>
            </a:pPr>
            <a:r>
              <a:rPr lang="en-US" sz="1200" b="1" dirty="0">
                <a:solidFill>
                  <a:schemeClr val="tx1"/>
                </a:solidFill>
              </a:rPr>
              <a:t>Quiz tomorrow</a:t>
            </a:r>
            <a:endParaRPr lang="en-US" sz="1200" dirty="0"/>
          </a:p>
        </p:txBody>
      </p:sp>
      <p:sp>
        <p:nvSpPr>
          <p:cNvPr id="11" name="Text 9"/>
          <p:cNvSpPr txBox="1"/>
          <p:nvPr/>
        </p:nvSpPr>
        <p:spPr>
          <a:xfrm rot="120000">
            <a:off x="868680" y="3337560"/>
            <a:ext cx="2103120" cy="457200"/>
          </a:xfrm>
          <a:prstGeom prst="roundRect">
            <a:avLst>
              <a:gd name="adj" fmla="val 16000"/>
            </a:avLst>
          </a:prstGeom>
          <a:solidFill>
            <a:schemeClr val="accent2"/>
          </a:solidFill>
          <a:ln w="9525">
            <a:solidFill>
              <a:schemeClr val="tx1">
                <a:alpha val="45000"/>
              </a:schemeClr>
            </a:solidFill>
          </a:ln>
        </p:spPr>
        <p:txBody>
          <a:bodyPr wrap="square" lIns="63500" tIns="101600" rIns="101600" bIns="0" rtlCol="0" anchor="t"/>
          <a:lstStyle/>
          <a:p>
            <a:pPr marL="0" indent="0" algn="l">
              <a:buNone/>
            </a:pPr>
            <a:r>
              <a:rPr lang="en-US" sz="1200" b="1" dirty="0">
                <a:solidFill>
                  <a:schemeClr val="tx1"/>
                </a:solidFill>
              </a:rPr>
              <a:t>Group project</a:t>
            </a:r>
            <a:endParaRPr lang="en-US" sz="1200" dirty="0"/>
          </a:p>
        </p:txBody>
      </p:sp>
      <p:sp>
        <p:nvSpPr>
          <p:cNvPr id="12" name="Text 10"/>
          <p:cNvSpPr txBox="1"/>
          <p:nvPr/>
        </p:nvSpPr>
        <p:spPr>
          <a:xfrm rot="-180000">
            <a:off x="2331720" y="3749040"/>
            <a:ext cx="1920240" cy="457200"/>
          </a:xfrm>
          <a:prstGeom prst="roundRect">
            <a:avLst>
              <a:gd name="adj" fmla="val 16000"/>
            </a:avLst>
          </a:prstGeom>
          <a:solidFill>
            <a:schemeClr val="accent1"/>
          </a:solidFill>
          <a:ln w="9525">
            <a:solidFill>
              <a:schemeClr val="tx1">
                <a:alpha val="45000"/>
              </a:schemeClr>
            </a:solidFill>
          </a:ln>
        </p:spPr>
        <p:txBody>
          <a:bodyPr wrap="square" lIns="63500" tIns="101600" rIns="101600" bIns="0" rtlCol="0" anchor="t"/>
          <a:lstStyle/>
          <a:p>
            <a:pPr marL="0" indent="0" algn="l">
              <a:buNone/>
            </a:pPr>
            <a:r>
              <a:rPr lang="en-US" sz="1200" b="1" dirty="0">
                <a:solidFill>
                  <a:schemeClr val="tx1"/>
                </a:solidFill>
              </a:rPr>
              <a:t>Family event</a:t>
            </a:r>
            <a:endParaRPr lang="en-US" sz="1200" dirty="0"/>
          </a:p>
        </p:txBody>
      </p:sp>
      <p:sp>
        <p:nvSpPr>
          <p:cNvPr id="13" name="Text 11"/>
          <p:cNvSpPr txBox="1"/>
          <p:nvPr/>
        </p:nvSpPr>
        <p:spPr>
          <a:xfrm>
            <a:off x="4114800" y="1874520"/>
            <a:ext cx="310896" cy="310896"/>
          </a:xfrm>
          <a:prstGeom prst="ellipse">
            <a:avLst/>
          </a:prstGeom>
          <a:solidFill>
            <a:schemeClr val="accent6"/>
          </a:solidFill>
          <a:ln w="12700">
            <a:solidFill>
              <a:schemeClr val="tx1"/>
            </a:solidFill>
          </a:ln>
        </p:spPr>
        <p:txBody>
          <a:bodyPr wrap="square" lIns="0" tIns="0" rIns="0" bIns="0" rtlCol="0" anchor="ctr"/>
          <a:lstStyle/>
          <a:p>
            <a:pPr marL="0" indent="0" algn="ctr">
              <a:buNone/>
            </a:pPr>
            <a:r>
              <a:rPr lang="en-US" sz="1400" b="1" dirty="0">
                <a:solidFill>
                  <a:schemeClr val="tx1"/>
                </a:solidFill>
              </a:rPr>
              <a:t>!</a:t>
            </a:r>
            <a:endParaRPr lang="en-US" sz="1400" dirty="0"/>
          </a:p>
        </p:txBody>
      </p:sp>
      <p:sp>
        <p:nvSpPr>
          <p:cNvPr id="14" name="Text 12"/>
          <p:cNvSpPr txBox="1"/>
          <p:nvPr/>
        </p:nvSpPr>
        <p:spPr>
          <a:xfrm>
            <a:off x="548640" y="3931920"/>
            <a:ext cx="310896" cy="310896"/>
          </a:xfrm>
          <a:prstGeom prst="ellipse">
            <a:avLst/>
          </a:prstGeom>
          <a:solidFill>
            <a:schemeClr val="accent6"/>
          </a:solidFill>
          <a:ln w="12700">
            <a:solidFill>
              <a:schemeClr val="tx1"/>
            </a:solidFill>
          </a:ln>
        </p:spPr>
        <p:txBody>
          <a:bodyPr wrap="square" lIns="0" tIns="0" rIns="0" bIns="0" rtlCol="0" anchor="ctr"/>
          <a:lstStyle/>
          <a:p>
            <a:pPr marL="0" indent="0" algn="ctr">
              <a:buNone/>
            </a:pPr>
            <a:r>
              <a:rPr lang="en-US" sz="1400" b="1" dirty="0">
                <a:solidFill>
                  <a:schemeClr val="tx1"/>
                </a:solidFill>
              </a:rPr>
              <a:t>!</a:t>
            </a:r>
            <a:endParaRPr lang="en-US" sz="1400" dirty="0"/>
          </a:p>
        </p:txBody>
      </p:sp>
      <p:sp>
        <p:nvSpPr>
          <p:cNvPr id="15" name="Shape 13"/>
          <p:cNvSpPr/>
          <p:nvPr/>
        </p:nvSpPr>
        <p:spPr>
          <a:xfrm>
            <a:off x="5120640" y="1408176"/>
            <a:ext cx="566928" cy="566928"/>
          </a:xfrm>
          <a:prstGeom prst="ellipse">
            <a:avLst/>
          </a:prstGeom>
          <a:solidFill>
            <a:schemeClr val="accent6">
              <a:alpha val="20000"/>
            </a:schemeClr>
          </a:solidFill>
          <a:ln w="12700">
            <a:solidFill>
              <a:schemeClr val="accent6">
                <a:alpha val="60000"/>
              </a:schemeClr>
            </a:solidFill>
            <a:prstDash val="solid"/>
          </a:ln>
        </p:spPr>
      </p:sp>
      <p:pic>
        <p:nvPicPr>
          <p:cNvPr id="16" name="Image 0" descr="preencoded.png"/>
          <p:cNvPicPr>
            <a:picLocks noChangeAspect="1"/>
          </p:cNvPicPr>
          <p:nvPr/>
        </p:nvPicPr>
        <p:blipFill>
          <a:blip r:embed="rId3"/>
          <a:stretch>
            <a:fillRect/>
          </a:stretch>
        </p:blipFill>
        <p:spPr>
          <a:xfrm>
            <a:off x="5273711" y="1561247"/>
            <a:ext cx="260787" cy="260787"/>
          </a:xfrm>
          <a:prstGeom prst="rect">
            <a:avLst/>
          </a:prstGeom>
        </p:spPr>
      </p:pic>
      <p:sp>
        <p:nvSpPr>
          <p:cNvPr id="17" name="Text 14"/>
          <p:cNvSpPr txBox="1"/>
          <p:nvPr/>
        </p:nvSpPr>
        <p:spPr>
          <a:xfrm>
            <a:off x="5852160" y="1371600"/>
            <a:ext cx="2834640" cy="274320"/>
          </a:xfrm>
          <a:prstGeom prst="rect">
            <a:avLst/>
          </a:prstGeom>
          <a:noFill/>
          <a:ln/>
        </p:spPr>
        <p:txBody>
          <a:bodyPr wrap="square" lIns="0" tIns="0" rIns="0" bIns="0" rtlCol="0" anchor="ctr"/>
          <a:lstStyle/>
          <a:p>
            <a:pPr marL="0" indent="0">
              <a:buNone/>
            </a:pPr>
            <a:r>
              <a:rPr lang="en-US" sz="1600" b="1" dirty="0">
                <a:solidFill>
                  <a:schemeClr val="tx1"/>
                </a:solidFill>
              </a:rPr>
              <a:t>Overwhelming schedules</a:t>
            </a:r>
            <a:endParaRPr lang="en-US" sz="1600" dirty="0"/>
          </a:p>
        </p:txBody>
      </p:sp>
      <p:sp>
        <p:nvSpPr>
          <p:cNvPr id="18" name="Text 15"/>
          <p:cNvSpPr txBox="1"/>
          <p:nvPr/>
        </p:nvSpPr>
        <p:spPr>
          <a:xfrm>
            <a:off x="5852160" y="1664208"/>
            <a:ext cx="2834640" cy="411480"/>
          </a:xfrm>
          <a:prstGeom prst="rect">
            <a:avLst/>
          </a:prstGeom>
          <a:noFill/>
          <a:ln/>
        </p:spPr>
        <p:txBody>
          <a:bodyPr wrap="square" lIns="0" tIns="0" rIns="0" bIns="0" rtlCol="0" anchor="t"/>
          <a:lstStyle/>
          <a:p>
            <a:pPr marL="0" indent="0">
              <a:buNone/>
            </a:pPr>
            <a:r>
              <a:rPr lang="en-US" sz="1200" dirty="0">
                <a:solidFill>
                  <a:schemeClr val="tx2"/>
                </a:solidFill>
              </a:rPr>
              <a:t>Classes, labs and study time fight for the same hours.</a:t>
            </a:r>
            <a:endParaRPr lang="en-US" sz="1200" dirty="0"/>
          </a:p>
        </p:txBody>
      </p:sp>
      <p:sp>
        <p:nvSpPr>
          <p:cNvPr id="19" name="Shape 16"/>
          <p:cNvSpPr/>
          <p:nvPr/>
        </p:nvSpPr>
        <p:spPr>
          <a:xfrm>
            <a:off x="5120640" y="2221992"/>
            <a:ext cx="566928" cy="566928"/>
          </a:xfrm>
          <a:prstGeom prst="ellipse">
            <a:avLst/>
          </a:prstGeom>
          <a:solidFill>
            <a:schemeClr val="accent6">
              <a:alpha val="20000"/>
            </a:schemeClr>
          </a:solidFill>
          <a:ln w="12700">
            <a:solidFill>
              <a:schemeClr val="accent6">
                <a:alpha val="60000"/>
              </a:schemeClr>
            </a:solidFill>
            <a:prstDash val="solid"/>
          </a:ln>
        </p:spPr>
      </p:sp>
      <p:pic>
        <p:nvPicPr>
          <p:cNvPr id="20" name="Image 1" descr="preencoded.png"/>
          <p:cNvPicPr>
            <a:picLocks noChangeAspect="1"/>
          </p:cNvPicPr>
          <p:nvPr/>
        </p:nvPicPr>
        <p:blipFill>
          <a:blip r:embed="rId4"/>
          <a:stretch>
            <a:fillRect/>
          </a:stretch>
        </p:blipFill>
        <p:spPr>
          <a:xfrm>
            <a:off x="5273711" y="2375063"/>
            <a:ext cx="260787" cy="260787"/>
          </a:xfrm>
          <a:prstGeom prst="rect">
            <a:avLst/>
          </a:prstGeom>
        </p:spPr>
      </p:pic>
      <p:sp>
        <p:nvSpPr>
          <p:cNvPr id="21" name="Text 17"/>
          <p:cNvSpPr txBox="1"/>
          <p:nvPr/>
        </p:nvSpPr>
        <p:spPr>
          <a:xfrm>
            <a:off x="5852160" y="2185416"/>
            <a:ext cx="2834640" cy="274320"/>
          </a:xfrm>
          <a:prstGeom prst="rect">
            <a:avLst/>
          </a:prstGeom>
          <a:noFill/>
          <a:ln/>
        </p:spPr>
        <p:txBody>
          <a:bodyPr wrap="square" lIns="0" tIns="0" rIns="0" bIns="0" rtlCol="0" anchor="ctr"/>
          <a:lstStyle/>
          <a:p>
            <a:pPr marL="0" indent="0">
              <a:buNone/>
            </a:pPr>
            <a:r>
              <a:rPr lang="en-US" sz="1600" b="1" dirty="0">
                <a:solidFill>
                  <a:schemeClr val="tx1"/>
                </a:solidFill>
              </a:rPr>
              <a:t>Overlapping deadlines</a:t>
            </a:r>
            <a:endParaRPr lang="en-US" sz="1600" dirty="0"/>
          </a:p>
        </p:txBody>
      </p:sp>
      <p:sp>
        <p:nvSpPr>
          <p:cNvPr id="22" name="Text 18"/>
          <p:cNvSpPr txBox="1"/>
          <p:nvPr/>
        </p:nvSpPr>
        <p:spPr>
          <a:xfrm>
            <a:off x="5852160" y="2478024"/>
            <a:ext cx="2834640" cy="411480"/>
          </a:xfrm>
          <a:prstGeom prst="rect">
            <a:avLst/>
          </a:prstGeom>
          <a:noFill/>
          <a:ln/>
        </p:spPr>
        <p:txBody>
          <a:bodyPr wrap="square" lIns="0" tIns="0" rIns="0" bIns="0" rtlCol="0" anchor="t"/>
          <a:lstStyle/>
          <a:p>
            <a:pPr marL="0" indent="0">
              <a:buNone/>
            </a:pPr>
            <a:r>
              <a:rPr lang="en-US" sz="1200" dirty="0">
                <a:solidFill>
                  <a:schemeClr val="tx2"/>
                </a:solidFill>
              </a:rPr>
              <a:t>Several submissions land in the same week.</a:t>
            </a:r>
            <a:endParaRPr lang="en-US" sz="1200" dirty="0"/>
          </a:p>
        </p:txBody>
      </p:sp>
      <p:sp>
        <p:nvSpPr>
          <p:cNvPr id="23" name="Shape 19"/>
          <p:cNvSpPr/>
          <p:nvPr/>
        </p:nvSpPr>
        <p:spPr>
          <a:xfrm>
            <a:off x="5120640" y="3035808"/>
            <a:ext cx="566928" cy="566928"/>
          </a:xfrm>
          <a:prstGeom prst="ellipse">
            <a:avLst/>
          </a:prstGeom>
          <a:solidFill>
            <a:schemeClr val="accent6">
              <a:alpha val="20000"/>
            </a:schemeClr>
          </a:solidFill>
          <a:ln w="12700">
            <a:solidFill>
              <a:schemeClr val="accent6">
                <a:alpha val="60000"/>
              </a:schemeClr>
            </a:solidFill>
            <a:prstDash val="solid"/>
          </a:ln>
        </p:spPr>
      </p:sp>
      <p:pic>
        <p:nvPicPr>
          <p:cNvPr id="24" name="Image 2" descr="preencoded.png"/>
          <p:cNvPicPr>
            <a:picLocks noChangeAspect="1"/>
          </p:cNvPicPr>
          <p:nvPr/>
        </p:nvPicPr>
        <p:blipFill>
          <a:blip r:embed="rId5"/>
          <a:stretch>
            <a:fillRect/>
          </a:stretch>
        </p:blipFill>
        <p:spPr>
          <a:xfrm>
            <a:off x="5273711" y="3188879"/>
            <a:ext cx="260787" cy="260787"/>
          </a:xfrm>
          <a:prstGeom prst="rect">
            <a:avLst/>
          </a:prstGeom>
        </p:spPr>
      </p:pic>
      <p:sp>
        <p:nvSpPr>
          <p:cNvPr id="25" name="Text 20"/>
          <p:cNvSpPr txBox="1"/>
          <p:nvPr/>
        </p:nvSpPr>
        <p:spPr>
          <a:xfrm>
            <a:off x="5852160" y="2999232"/>
            <a:ext cx="2834640" cy="274320"/>
          </a:xfrm>
          <a:prstGeom prst="rect">
            <a:avLst/>
          </a:prstGeom>
          <a:noFill/>
          <a:ln/>
        </p:spPr>
        <p:txBody>
          <a:bodyPr wrap="square" lIns="0" tIns="0" rIns="0" bIns="0" rtlCol="0" anchor="ctr"/>
          <a:lstStyle/>
          <a:p>
            <a:pPr marL="0" indent="0">
              <a:buNone/>
            </a:pPr>
            <a:r>
              <a:rPr lang="en-US" sz="1600" b="1" dirty="0">
                <a:solidFill>
                  <a:schemeClr val="tx1"/>
                </a:solidFill>
              </a:rPr>
              <a:t>Unexpected commitments</a:t>
            </a:r>
            <a:endParaRPr lang="en-US" sz="1600" dirty="0"/>
          </a:p>
        </p:txBody>
      </p:sp>
      <p:sp>
        <p:nvSpPr>
          <p:cNvPr id="26" name="Text 21"/>
          <p:cNvSpPr txBox="1"/>
          <p:nvPr/>
        </p:nvSpPr>
        <p:spPr>
          <a:xfrm>
            <a:off x="5852160" y="3291840"/>
            <a:ext cx="2834640" cy="411480"/>
          </a:xfrm>
          <a:prstGeom prst="rect">
            <a:avLst/>
          </a:prstGeom>
          <a:noFill/>
          <a:ln/>
        </p:spPr>
        <p:txBody>
          <a:bodyPr wrap="square" lIns="0" tIns="0" rIns="0" bIns="0" rtlCol="0" anchor="t"/>
          <a:lstStyle/>
          <a:p>
            <a:pPr marL="0" indent="0">
              <a:buNone/>
            </a:pPr>
            <a:r>
              <a:rPr lang="en-US" sz="1200" dirty="0">
                <a:solidFill>
                  <a:schemeClr val="tx2"/>
                </a:solidFill>
              </a:rPr>
              <a:t>One surprise can break the whole plan.</a:t>
            </a:r>
            <a:endParaRPr lang="en-US" sz="1200" dirty="0"/>
          </a:p>
        </p:txBody>
      </p:sp>
      <p:sp>
        <p:nvSpPr>
          <p:cNvPr id="27" name="Shape 22"/>
          <p:cNvSpPr/>
          <p:nvPr/>
        </p:nvSpPr>
        <p:spPr>
          <a:xfrm>
            <a:off x="5120640" y="3849624"/>
            <a:ext cx="566928" cy="566928"/>
          </a:xfrm>
          <a:prstGeom prst="ellipse">
            <a:avLst/>
          </a:prstGeom>
          <a:solidFill>
            <a:schemeClr val="accent6">
              <a:alpha val="20000"/>
            </a:schemeClr>
          </a:solidFill>
          <a:ln w="12700">
            <a:solidFill>
              <a:schemeClr val="accent6">
                <a:alpha val="60000"/>
              </a:schemeClr>
            </a:solidFill>
            <a:prstDash val="solid"/>
          </a:ln>
        </p:spPr>
      </p:sp>
      <p:pic>
        <p:nvPicPr>
          <p:cNvPr id="28" name="Image 3" descr="preencoded.png"/>
          <p:cNvPicPr>
            <a:picLocks noChangeAspect="1"/>
          </p:cNvPicPr>
          <p:nvPr/>
        </p:nvPicPr>
        <p:blipFill>
          <a:blip r:embed="rId6"/>
          <a:stretch>
            <a:fillRect/>
          </a:stretch>
        </p:blipFill>
        <p:spPr>
          <a:xfrm>
            <a:off x="5273711" y="4002695"/>
            <a:ext cx="260787" cy="260787"/>
          </a:xfrm>
          <a:prstGeom prst="rect">
            <a:avLst/>
          </a:prstGeom>
        </p:spPr>
      </p:pic>
      <p:sp>
        <p:nvSpPr>
          <p:cNvPr id="29" name="Text 23"/>
          <p:cNvSpPr txBox="1"/>
          <p:nvPr/>
        </p:nvSpPr>
        <p:spPr>
          <a:xfrm>
            <a:off x="5852160" y="3813048"/>
            <a:ext cx="2834640" cy="274320"/>
          </a:xfrm>
          <a:prstGeom prst="rect">
            <a:avLst/>
          </a:prstGeom>
          <a:noFill/>
          <a:ln/>
        </p:spPr>
        <p:txBody>
          <a:bodyPr wrap="square" lIns="0" tIns="0" rIns="0" bIns="0" rtlCol="0" anchor="ctr"/>
          <a:lstStyle/>
          <a:p>
            <a:pPr marL="0" indent="0">
              <a:buNone/>
            </a:pPr>
            <a:r>
              <a:rPr lang="en-US" sz="1600" b="1" dirty="0">
                <a:solidFill>
                  <a:schemeClr val="tx1"/>
                </a:solidFill>
              </a:rPr>
              <a:t>Unrealistic timetables</a:t>
            </a:r>
            <a:endParaRPr lang="en-US" sz="1600" dirty="0"/>
          </a:p>
        </p:txBody>
      </p:sp>
      <p:sp>
        <p:nvSpPr>
          <p:cNvPr id="30" name="Text 24"/>
          <p:cNvSpPr txBox="1"/>
          <p:nvPr/>
        </p:nvSpPr>
        <p:spPr>
          <a:xfrm>
            <a:off x="5852160" y="4105656"/>
            <a:ext cx="2834640" cy="411480"/>
          </a:xfrm>
          <a:prstGeom prst="rect">
            <a:avLst/>
          </a:prstGeom>
          <a:noFill/>
          <a:ln/>
        </p:spPr>
        <p:txBody>
          <a:bodyPr wrap="square" lIns="0" tIns="0" rIns="0" bIns="0" rtlCol="0" anchor="t"/>
          <a:lstStyle/>
          <a:p>
            <a:pPr marL="0" indent="0">
              <a:buNone/>
            </a:pPr>
            <a:r>
              <a:rPr lang="en-US" sz="1200" dirty="0">
                <a:solidFill>
                  <a:schemeClr val="tx2"/>
                </a:solidFill>
              </a:rPr>
              <a:t>Static plans ignore the hours students really have.</a:t>
            </a:r>
            <a:endParaRPr lang="en-US" sz="1200" dirty="0"/>
          </a:p>
        </p:txBody>
      </p:sp>
      <p:sp>
        <p:nvSpPr>
          <p:cNvPr id="31"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7C7"/>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0" y="1097280"/>
            <a:ext cx="4114800" cy="4114800"/>
          </a:xfrm>
          <a:prstGeom prst="ellipse">
            <a:avLst/>
          </a:prstGeom>
          <a:solidFill>
            <a:schemeClr val="accent2">
              <a:alpha val="10000"/>
            </a:schemeClr>
          </a:solidFill>
          <a:ln/>
        </p:spPr>
      </p:sp>
      <p:sp>
        <p:nvSpPr>
          <p:cNvPr id="3" name="Text 0"/>
          <p:cNvSpPr>
            <a:spLocks noGrp="1"/>
          </p:cNvSpPr>
          <p:nvPr>
            <p:ph type="title" idx="100" hasCustomPrompt="1"/>
          </p:nvPr>
        </p:nvSpPr>
        <p:spPr>
          <a:xfrm>
            <a:off x="457200" y="320040"/>
            <a:ext cx="8229600" cy="868680"/>
          </a:xfrm>
          <a:prstGeom prst="rect">
            <a:avLst/>
          </a:prstGeom>
          <a:noFill/>
          <a:ln/>
        </p:spPr>
        <p:txBody>
          <a:bodyPr wrap="square" lIns="0" tIns="0" rIns="0" bIns="0" rtlCol="0" anchor="t"/>
          <a:lstStyle/>
          <a:p>
            <a:pPr marL="0" indent="0" algn="l">
              <a:buNone/>
            </a:pPr>
            <a:r>
              <a:rPr lang="en-US" sz="2600" b="1" dirty="0">
                <a:solidFill>
                  <a:schemeClr val="tx1"/>
                </a:solidFill>
              </a:rPr>
              <a:t>Meet REPLAN AI</a:t>
            </a:r>
            <a:endParaRPr lang="en-US" sz="2600" dirty="0"/>
          </a:p>
        </p:txBody>
      </p:sp>
      <p:sp>
        <p:nvSpPr>
          <p:cNvPr id="4" name="Shape 2"/>
          <p:cNvSpPr/>
          <p:nvPr/>
        </p:nvSpPr>
        <p:spPr>
          <a:xfrm>
            <a:off x="457200" y="1408176"/>
            <a:ext cx="566928" cy="566928"/>
          </a:xfrm>
          <a:prstGeom prst="ellipse">
            <a:avLst/>
          </a:prstGeom>
          <a:solidFill>
            <a:schemeClr val="accent1">
              <a:alpha val="22000"/>
            </a:schemeClr>
          </a:solidFill>
          <a:ln w="12700">
            <a:solidFill>
              <a:schemeClr val="accent1">
                <a:alpha val="60000"/>
              </a:schemeClr>
            </a:solidFill>
            <a:prstDash val="solid"/>
          </a:ln>
        </p:spPr>
      </p:sp>
      <p:pic>
        <p:nvPicPr>
          <p:cNvPr id="5" name="Image 0" descr="preencoded.png"/>
          <p:cNvPicPr>
            <a:picLocks noChangeAspect="1"/>
          </p:cNvPicPr>
          <p:nvPr/>
        </p:nvPicPr>
        <p:blipFill>
          <a:blip r:embed="rId3"/>
          <a:stretch>
            <a:fillRect/>
          </a:stretch>
        </p:blipFill>
        <p:spPr>
          <a:xfrm>
            <a:off x="610271" y="1561247"/>
            <a:ext cx="260787" cy="260787"/>
          </a:xfrm>
          <a:prstGeom prst="rect">
            <a:avLst/>
          </a:prstGeom>
        </p:spPr>
      </p:pic>
      <p:sp>
        <p:nvSpPr>
          <p:cNvPr id="6" name="Text 3"/>
          <p:cNvSpPr txBox="1"/>
          <p:nvPr/>
        </p:nvSpPr>
        <p:spPr>
          <a:xfrm>
            <a:off x="1188720" y="1371600"/>
            <a:ext cx="3017520" cy="274320"/>
          </a:xfrm>
          <a:prstGeom prst="rect">
            <a:avLst/>
          </a:prstGeom>
          <a:noFill/>
          <a:ln/>
        </p:spPr>
        <p:txBody>
          <a:bodyPr wrap="square" lIns="0" tIns="0" rIns="0" bIns="0" rtlCol="0" anchor="ctr"/>
          <a:lstStyle/>
          <a:p>
            <a:pPr marL="0" indent="0">
              <a:buNone/>
            </a:pPr>
            <a:r>
              <a:rPr lang="en-US" sz="1600" b="1" dirty="0">
                <a:solidFill>
                  <a:schemeClr val="tx1"/>
                </a:solidFill>
              </a:rPr>
              <a:t>Smart weekly dashboard</a:t>
            </a:r>
            <a:endParaRPr lang="en-US" sz="1600" dirty="0"/>
          </a:p>
        </p:txBody>
      </p:sp>
      <p:sp>
        <p:nvSpPr>
          <p:cNvPr id="7" name="Text 4"/>
          <p:cNvSpPr txBox="1"/>
          <p:nvPr/>
        </p:nvSpPr>
        <p:spPr>
          <a:xfrm>
            <a:off x="1188720" y="1664208"/>
            <a:ext cx="3017520" cy="411480"/>
          </a:xfrm>
          <a:prstGeom prst="rect">
            <a:avLst/>
          </a:prstGeom>
          <a:noFill/>
          <a:ln/>
        </p:spPr>
        <p:txBody>
          <a:bodyPr wrap="square" lIns="0" tIns="0" rIns="0" bIns="0" rtlCol="0" anchor="t"/>
          <a:lstStyle/>
          <a:p>
            <a:pPr marL="0" indent="0">
              <a:buNone/>
            </a:pPr>
            <a:r>
              <a:rPr lang="en-US" sz="1200" dirty="0">
                <a:solidFill>
                  <a:schemeClr val="tx2"/>
                </a:solidFill>
              </a:rPr>
              <a:t>Your whole week at a glance.</a:t>
            </a:r>
            <a:endParaRPr lang="en-US" sz="1200" dirty="0"/>
          </a:p>
        </p:txBody>
      </p:sp>
      <p:sp>
        <p:nvSpPr>
          <p:cNvPr id="8" name="Shape 5"/>
          <p:cNvSpPr/>
          <p:nvPr/>
        </p:nvSpPr>
        <p:spPr>
          <a:xfrm>
            <a:off x="457200" y="2221992"/>
            <a:ext cx="566928" cy="566928"/>
          </a:xfrm>
          <a:prstGeom prst="ellipse">
            <a:avLst/>
          </a:prstGeom>
          <a:solidFill>
            <a:schemeClr val="accent1">
              <a:alpha val="22000"/>
            </a:schemeClr>
          </a:solidFill>
          <a:ln w="12700">
            <a:solidFill>
              <a:schemeClr val="accent1">
                <a:alpha val="60000"/>
              </a:schemeClr>
            </a:solidFill>
            <a:prstDash val="solid"/>
          </a:ln>
        </p:spPr>
      </p:sp>
      <p:pic>
        <p:nvPicPr>
          <p:cNvPr id="9" name="Image 1" descr="preencoded.png"/>
          <p:cNvPicPr>
            <a:picLocks noChangeAspect="1"/>
          </p:cNvPicPr>
          <p:nvPr/>
        </p:nvPicPr>
        <p:blipFill>
          <a:blip r:embed="rId4"/>
          <a:stretch>
            <a:fillRect/>
          </a:stretch>
        </p:blipFill>
        <p:spPr>
          <a:xfrm>
            <a:off x="610271" y="2375063"/>
            <a:ext cx="260787" cy="260787"/>
          </a:xfrm>
          <a:prstGeom prst="rect">
            <a:avLst/>
          </a:prstGeom>
        </p:spPr>
      </p:pic>
      <p:sp>
        <p:nvSpPr>
          <p:cNvPr id="10" name="Text 6"/>
          <p:cNvSpPr txBox="1"/>
          <p:nvPr/>
        </p:nvSpPr>
        <p:spPr>
          <a:xfrm>
            <a:off x="1188720" y="2185416"/>
            <a:ext cx="3017520" cy="274320"/>
          </a:xfrm>
          <a:prstGeom prst="rect">
            <a:avLst/>
          </a:prstGeom>
          <a:noFill/>
          <a:ln/>
        </p:spPr>
        <p:txBody>
          <a:bodyPr wrap="square" lIns="0" tIns="0" rIns="0" bIns="0" rtlCol="0" anchor="ctr"/>
          <a:lstStyle/>
          <a:p>
            <a:pPr marL="0" indent="0">
              <a:buNone/>
            </a:pPr>
            <a:r>
              <a:rPr lang="en-US" sz="1600" b="1" dirty="0">
                <a:solidFill>
                  <a:schemeClr val="tx1"/>
                </a:solidFill>
              </a:rPr>
              <a:t>Tasks and deadlines</a:t>
            </a:r>
            <a:endParaRPr lang="en-US" sz="1600" dirty="0"/>
          </a:p>
        </p:txBody>
      </p:sp>
      <p:sp>
        <p:nvSpPr>
          <p:cNvPr id="11" name="Text 7"/>
          <p:cNvSpPr txBox="1"/>
          <p:nvPr/>
        </p:nvSpPr>
        <p:spPr>
          <a:xfrm>
            <a:off x="1188720" y="2478024"/>
            <a:ext cx="3017520" cy="411480"/>
          </a:xfrm>
          <a:prstGeom prst="rect">
            <a:avLst/>
          </a:prstGeom>
          <a:noFill/>
          <a:ln/>
        </p:spPr>
        <p:txBody>
          <a:bodyPr wrap="square" lIns="0" tIns="0" rIns="0" bIns="0" rtlCol="0" anchor="t"/>
          <a:lstStyle/>
          <a:p>
            <a:pPr marL="0" indent="0">
              <a:buNone/>
            </a:pPr>
            <a:r>
              <a:rPr lang="en-US" sz="1200" dirty="0">
                <a:solidFill>
                  <a:schemeClr val="tx2"/>
                </a:solidFill>
              </a:rPr>
              <a:t>Every assignment and due date in one place.</a:t>
            </a:r>
            <a:endParaRPr lang="en-US" sz="1200" dirty="0"/>
          </a:p>
        </p:txBody>
      </p:sp>
      <p:sp>
        <p:nvSpPr>
          <p:cNvPr id="12" name="Shape 8"/>
          <p:cNvSpPr/>
          <p:nvPr/>
        </p:nvSpPr>
        <p:spPr>
          <a:xfrm>
            <a:off x="457200" y="3035808"/>
            <a:ext cx="566928" cy="566928"/>
          </a:xfrm>
          <a:prstGeom prst="ellipse">
            <a:avLst/>
          </a:prstGeom>
          <a:solidFill>
            <a:schemeClr val="accent1">
              <a:alpha val="22000"/>
            </a:schemeClr>
          </a:solidFill>
          <a:ln w="12700">
            <a:solidFill>
              <a:schemeClr val="accent1">
                <a:alpha val="60000"/>
              </a:schemeClr>
            </a:solidFill>
            <a:prstDash val="solid"/>
          </a:ln>
        </p:spPr>
      </p:sp>
      <p:pic>
        <p:nvPicPr>
          <p:cNvPr id="13" name="Image 2" descr="preencoded.png"/>
          <p:cNvPicPr>
            <a:picLocks noChangeAspect="1"/>
          </p:cNvPicPr>
          <p:nvPr/>
        </p:nvPicPr>
        <p:blipFill>
          <a:blip r:embed="rId5"/>
          <a:stretch>
            <a:fillRect/>
          </a:stretch>
        </p:blipFill>
        <p:spPr>
          <a:xfrm>
            <a:off x="610271" y="3188879"/>
            <a:ext cx="260787" cy="260787"/>
          </a:xfrm>
          <a:prstGeom prst="rect">
            <a:avLst/>
          </a:prstGeom>
        </p:spPr>
      </p:pic>
      <p:sp>
        <p:nvSpPr>
          <p:cNvPr id="14" name="Text 9"/>
          <p:cNvSpPr txBox="1"/>
          <p:nvPr/>
        </p:nvSpPr>
        <p:spPr>
          <a:xfrm>
            <a:off x="1188720" y="2999232"/>
            <a:ext cx="3017520" cy="274320"/>
          </a:xfrm>
          <a:prstGeom prst="rect">
            <a:avLst/>
          </a:prstGeom>
          <a:noFill/>
          <a:ln/>
        </p:spPr>
        <p:txBody>
          <a:bodyPr wrap="square" lIns="0" tIns="0" rIns="0" bIns="0" rtlCol="0" anchor="ctr"/>
          <a:lstStyle/>
          <a:p>
            <a:pPr marL="0" indent="0">
              <a:buNone/>
            </a:pPr>
            <a:r>
              <a:rPr lang="en-US" sz="1600" b="1" dirty="0">
                <a:solidFill>
                  <a:schemeClr val="tx1"/>
                </a:solidFill>
              </a:rPr>
              <a:t>Available study hours</a:t>
            </a:r>
            <a:endParaRPr lang="en-US" sz="1600" dirty="0"/>
          </a:p>
        </p:txBody>
      </p:sp>
      <p:sp>
        <p:nvSpPr>
          <p:cNvPr id="15" name="Text 10"/>
          <p:cNvSpPr txBox="1"/>
          <p:nvPr/>
        </p:nvSpPr>
        <p:spPr>
          <a:xfrm>
            <a:off x="1188720" y="3291840"/>
            <a:ext cx="3017520" cy="411480"/>
          </a:xfrm>
          <a:prstGeom prst="rect">
            <a:avLst/>
          </a:prstGeom>
          <a:noFill/>
          <a:ln/>
        </p:spPr>
        <p:txBody>
          <a:bodyPr wrap="square" lIns="0" tIns="0" rIns="0" bIns="0" rtlCol="0" anchor="t"/>
          <a:lstStyle/>
          <a:p>
            <a:pPr marL="0" indent="0">
              <a:buNone/>
            </a:pPr>
            <a:r>
              <a:rPr lang="en-US" sz="1200" dirty="0">
                <a:solidFill>
                  <a:schemeClr val="tx2"/>
                </a:solidFill>
              </a:rPr>
              <a:t>Plans fit the time you really have.</a:t>
            </a:r>
            <a:endParaRPr lang="en-US" sz="1200" dirty="0"/>
          </a:p>
        </p:txBody>
      </p:sp>
      <p:sp>
        <p:nvSpPr>
          <p:cNvPr id="16" name="Shape 11"/>
          <p:cNvSpPr/>
          <p:nvPr/>
        </p:nvSpPr>
        <p:spPr>
          <a:xfrm>
            <a:off x="457200" y="3849624"/>
            <a:ext cx="566928" cy="566928"/>
          </a:xfrm>
          <a:prstGeom prst="ellipse">
            <a:avLst/>
          </a:prstGeom>
          <a:solidFill>
            <a:schemeClr val="accent1">
              <a:alpha val="22000"/>
            </a:schemeClr>
          </a:solidFill>
          <a:ln w="12700">
            <a:solidFill>
              <a:schemeClr val="accent1">
                <a:alpha val="60000"/>
              </a:schemeClr>
            </a:solidFill>
            <a:prstDash val="solid"/>
          </a:ln>
        </p:spPr>
      </p:sp>
      <p:pic>
        <p:nvPicPr>
          <p:cNvPr id="17" name="Image 3" descr="preencoded.png"/>
          <p:cNvPicPr>
            <a:picLocks noChangeAspect="1"/>
          </p:cNvPicPr>
          <p:nvPr/>
        </p:nvPicPr>
        <p:blipFill>
          <a:blip r:embed="rId6"/>
          <a:stretch>
            <a:fillRect/>
          </a:stretch>
        </p:blipFill>
        <p:spPr>
          <a:xfrm>
            <a:off x="610271" y="4002695"/>
            <a:ext cx="260787" cy="260787"/>
          </a:xfrm>
          <a:prstGeom prst="rect">
            <a:avLst/>
          </a:prstGeom>
        </p:spPr>
      </p:pic>
      <p:sp>
        <p:nvSpPr>
          <p:cNvPr id="18" name="Text 12"/>
          <p:cNvSpPr txBox="1"/>
          <p:nvPr/>
        </p:nvSpPr>
        <p:spPr>
          <a:xfrm>
            <a:off x="1188720" y="3813048"/>
            <a:ext cx="3017520" cy="274320"/>
          </a:xfrm>
          <a:prstGeom prst="rect">
            <a:avLst/>
          </a:prstGeom>
          <a:noFill/>
          <a:ln/>
        </p:spPr>
        <p:txBody>
          <a:bodyPr wrap="square" lIns="0" tIns="0" rIns="0" bIns="0" rtlCol="0" anchor="ctr"/>
          <a:lstStyle/>
          <a:p>
            <a:pPr marL="0" indent="0">
              <a:buNone/>
            </a:pPr>
            <a:r>
              <a:rPr lang="en-US" sz="1600" b="1" dirty="0">
                <a:solidFill>
                  <a:schemeClr val="tx1"/>
                </a:solidFill>
              </a:rPr>
              <a:t>Automatic schedule recovery</a:t>
            </a:r>
            <a:endParaRPr lang="en-US" sz="1600" dirty="0"/>
          </a:p>
        </p:txBody>
      </p:sp>
      <p:sp>
        <p:nvSpPr>
          <p:cNvPr id="19" name="Text 13"/>
          <p:cNvSpPr txBox="1"/>
          <p:nvPr/>
        </p:nvSpPr>
        <p:spPr>
          <a:xfrm>
            <a:off x="1188720" y="4105656"/>
            <a:ext cx="3017520" cy="411480"/>
          </a:xfrm>
          <a:prstGeom prst="rect">
            <a:avLst/>
          </a:prstGeom>
          <a:noFill/>
          <a:ln/>
        </p:spPr>
        <p:txBody>
          <a:bodyPr wrap="square" lIns="0" tIns="0" rIns="0" bIns="0" rtlCol="0" anchor="t"/>
          <a:lstStyle/>
          <a:p>
            <a:pPr marL="0" indent="0">
              <a:buNone/>
            </a:pPr>
            <a:r>
              <a:rPr lang="en-US" sz="1200" dirty="0">
                <a:solidFill>
                  <a:schemeClr val="tx2"/>
                </a:solidFill>
              </a:rPr>
              <a:t>The plan rebuilds when something goes wrong.</a:t>
            </a:r>
            <a:endParaRPr lang="en-US" sz="1200" dirty="0"/>
          </a:p>
        </p:txBody>
      </p:sp>
      <p:sp>
        <p:nvSpPr>
          <p:cNvPr id="20" name="Shape 14"/>
          <p:cNvSpPr/>
          <p:nvPr/>
        </p:nvSpPr>
        <p:spPr>
          <a:xfrm>
            <a:off x="4434840" y="1325880"/>
            <a:ext cx="4251960" cy="2926080"/>
          </a:xfrm>
          <a:prstGeom prst="roundRect">
            <a:avLst>
              <a:gd name="adj" fmla="val 3750"/>
            </a:avLst>
          </a:prstGeom>
          <a:solidFill>
            <a:schemeClr val="bg2"/>
          </a:solidFill>
          <a:ln w="9525">
            <a:solidFill>
              <a:schemeClr val="accent1">
                <a:alpha val="60000"/>
              </a:schemeClr>
            </a:solidFill>
            <a:prstDash val="solid"/>
          </a:ln>
        </p:spPr>
      </p:sp>
      <p:sp>
        <p:nvSpPr>
          <p:cNvPr id="21" name="Shape 15"/>
          <p:cNvSpPr/>
          <p:nvPr/>
        </p:nvSpPr>
        <p:spPr>
          <a:xfrm>
            <a:off x="4590288" y="1481328"/>
            <a:ext cx="91440" cy="91440"/>
          </a:xfrm>
          <a:prstGeom prst="ellipse">
            <a:avLst/>
          </a:prstGeom>
          <a:solidFill>
            <a:schemeClr val="accent6"/>
          </a:solidFill>
          <a:ln/>
        </p:spPr>
      </p:sp>
      <p:sp>
        <p:nvSpPr>
          <p:cNvPr id="22" name="Shape 16"/>
          <p:cNvSpPr/>
          <p:nvPr/>
        </p:nvSpPr>
        <p:spPr>
          <a:xfrm>
            <a:off x="4754880" y="1481328"/>
            <a:ext cx="91440" cy="91440"/>
          </a:xfrm>
          <a:prstGeom prst="ellipse">
            <a:avLst/>
          </a:prstGeom>
          <a:solidFill>
            <a:schemeClr val="accent5"/>
          </a:solidFill>
          <a:ln/>
        </p:spPr>
      </p:sp>
      <p:sp>
        <p:nvSpPr>
          <p:cNvPr id="23" name="Shape 17"/>
          <p:cNvSpPr/>
          <p:nvPr/>
        </p:nvSpPr>
        <p:spPr>
          <a:xfrm>
            <a:off x="4919472" y="1481328"/>
            <a:ext cx="91440" cy="91440"/>
          </a:xfrm>
          <a:prstGeom prst="ellipse">
            <a:avLst/>
          </a:prstGeom>
          <a:solidFill>
            <a:schemeClr val="accent4"/>
          </a:solidFill>
          <a:ln/>
        </p:spPr>
      </p:sp>
      <p:sp>
        <p:nvSpPr>
          <p:cNvPr id="24" name="Text 18"/>
          <p:cNvSpPr txBox="1"/>
          <p:nvPr/>
        </p:nvSpPr>
        <p:spPr>
          <a:xfrm>
            <a:off x="5212080" y="1417320"/>
            <a:ext cx="2011680" cy="228600"/>
          </a:xfrm>
          <a:prstGeom prst="rect">
            <a:avLst/>
          </a:prstGeom>
          <a:noFill/>
          <a:ln/>
        </p:spPr>
        <p:txBody>
          <a:bodyPr wrap="square" lIns="0" tIns="0" rIns="0" bIns="0" rtlCol="0" anchor="ctr"/>
          <a:lstStyle/>
          <a:p>
            <a:pPr marL="0" indent="0">
              <a:buNone/>
            </a:pPr>
            <a:r>
              <a:rPr lang="en-US" sz="1100" b="1" dirty="0">
                <a:solidFill>
                  <a:schemeClr val="tx1"/>
                </a:solidFill>
              </a:rPr>
              <a:t>REPLAN AI  |  This Week</a:t>
            </a:r>
            <a:endParaRPr lang="en-US" sz="1100" dirty="0"/>
          </a:p>
        </p:txBody>
      </p:sp>
      <p:sp>
        <p:nvSpPr>
          <p:cNvPr id="25" name="Text 19"/>
          <p:cNvSpPr txBox="1"/>
          <p:nvPr/>
        </p:nvSpPr>
        <p:spPr>
          <a:xfrm>
            <a:off x="7406640" y="1399032"/>
            <a:ext cx="1097280" cy="256032"/>
          </a:xfrm>
          <a:prstGeom prst="roundRect">
            <a:avLst>
              <a:gd name="adj" fmla="val 35714"/>
            </a:avLst>
          </a:prstGeom>
          <a:solidFill>
            <a:schemeClr val="accent2"/>
          </a:solidFill>
          <a:ln/>
        </p:spPr>
        <p:txBody>
          <a:bodyPr wrap="square" lIns="0" tIns="0" rIns="0" bIns="0" rtlCol="0" anchor="ctr"/>
          <a:lstStyle/>
          <a:p>
            <a:pPr marL="0" indent="0" algn="ctr">
              <a:buNone/>
            </a:pPr>
            <a:r>
              <a:rPr lang="en-US" sz="1000" b="1" dirty="0">
                <a:solidFill>
                  <a:schemeClr val="tx1"/>
                </a:solidFill>
              </a:rPr>
              <a:t>Chaos Button</a:t>
            </a:r>
            <a:endParaRPr lang="en-US" sz="1000" dirty="0"/>
          </a:p>
        </p:txBody>
      </p:sp>
      <p:sp>
        <p:nvSpPr>
          <p:cNvPr id="26" name="Shape 20"/>
          <p:cNvSpPr/>
          <p:nvPr/>
        </p:nvSpPr>
        <p:spPr>
          <a:xfrm>
            <a:off x="4572000" y="1828800"/>
            <a:ext cx="1243584" cy="731520"/>
          </a:xfrm>
          <a:prstGeom prst="roundRect">
            <a:avLst>
              <a:gd name="adj" fmla="val 10000"/>
            </a:avLst>
          </a:prstGeom>
          <a:solidFill>
            <a:schemeClr val="bg1">
              <a:alpha val="65000"/>
            </a:schemeClr>
          </a:solidFill>
          <a:ln w="9525">
            <a:solidFill>
              <a:schemeClr val="accent1">
                <a:alpha val="40000"/>
              </a:schemeClr>
            </a:solidFill>
            <a:prstDash val="solid"/>
          </a:ln>
        </p:spPr>
      </p:sp>
      <p:sp>
        <p:nvSpPr>
          <p:cNvPr id="27" name="Text 21"/>
          <p:cNvSpPr txBox="1"/>
          <p:nvPr/>
        </p:nvSpPr>
        <p:spPr>
          <a:xfrm>
            <a:off x="4663440" y="1892808"/>
            <a:ext cx="1097280" cy="228600"/>
          </a:xfrm>
          <a:prstGeom prst="rect">
            <a:avLst/>
          </a:prstGeom>
          <a:noFill/>
          <a:ln/>
        </p:spPr>
        <p:txBody>
          <a:bodyPr wrap="square" lIns="0" tIns="0" rIns="0" bIns="0" rtlCol="0" anchor="ctr"/>
          <a:lstStyle/>
          <a:p>
            <a:pPr marL="0" indent="0">
              <a:buNone/>
            </a:pPr>
            <a:r>
              <a:rPr lang="en-US" sz="1000" dirty="0">
                <a:solidFill>
                  <a:schemeClr val="tx2"/>
                </a:solidFill>
              </a:rPr>
              <a:t>Free study hours</a:t>
            </a:r>
            <a:endParaRPr lang="en-US" sz="1000" dirty="0"/>
          </a:p>
        </p:txBody>
      </p:sp>
      <p:sp>
        <p:nvSpPr>
          <p:cNvPr id="28" name="Shape 22"/>
          <p:cNvSpPr/>
          <p:nvPr/>
        </p:nvSpPr>
        <p:spPr>
          <a:xfrm>
            <a:off x="4663440" y="2286000"/>
            <a:ext cx="1060704" cy="109728"/>
          </a:xfrm>
          <a:prstGeom prst="roundRect">
            <a:avLst>
              <a:gd name="adj" fmla="val 50000"/>
            </a:avLst>
          </a:prstGeom>
          <a:solidFill>
            <a:schemeClr val="tx2">
              <a:alpha val="25000"/>
            </a:schemeClr>
          </a:solidFill>
          <a:ln/>
        </p:spPr>
      </p:sp>
      <p:sp>
        <p:nvSpPr>
          <p:cNvPr id="29" name="Shape 23"/>
          <p:cNvSpPr/>
          <p:nvPr/>
        </p:nvSpPr>
        <p:spPr>
          <a:xfrm>
            <a:off x="4663440" y="2286000"/>
            <a:ext cx="657636" cy="109728"/>
          </a:xfrm>
          <a:prstGeom prst="roundRect">
            <a:avLst>
              <a:gd name="adj" fmla="val 50000"/>
            </a:avLst>
          </a:prstGeom>
          <a:solidFill>
            <a:schemeClr val="accent1"/>
          </a:solidFill>
          <a:ln/>
        </p:spPr>
      </p:sp>
      <p:sp>
        <p:nvSpPr>
          <p:cNvPr id="30" name="Shape 24"/>
          <p:cNvSpPr/>
          <p:nvPr/>
        </p:nvSpPr>
        <p:spPr>
          <a:xfrm>
            <a:off x="5916168" y="1828800"/>
            <a:ext cx="1243584" cy="731520"/>
          </a:xfrm>
          <a:prstGeom prst="roundRect">
            <a:avLst>
              <a:gd name="adj" fmla="val 10000"/>
            </a:avLst>
          </a:prstGeom>
          <a:solidFill>
            <a:schemeClr val="bg1">
              <a:alpha val="65000"/>
            </a:schemeClr>
          </a:solidFill>
          <a:ln w="9525">
            <a:solidFill>
              <a:schemeClr val="accent2">
                <a:alpha val="40000"/>
              </a:schemeClr>
            </a:solidFill>
            <a:prstDash val="solid"/>
          </a:ln>
        </p:spPr>
      </p:sp>
      <p:sp>
        <p:nvSpPr>
          <p:cNvPr id="31" name="Text 25"/>
          <p:cNvSpPr txBox="1"/>
          <p:nvPr/>
        </p:nvSpPr>
        <p:spPr>
          <a:xfrm>
            <a:off x="6007608" y="1892808"/>
            <a:ext cx="1097280" cy="228600"/>
          </a:xfrm>
          <a:prstGeom prst="rect">
            <a:avLst/>
          </a:prstGeom>
          <a:noFill/>
          <a:ln/>
        </p:spPr>
        <p:txBody>
          <a:bodyPr wrap="square" lIns="0" tIns="0" rIns="0" bIns="0" rtlCol="0" anchor="ctr"/>
          <a:lstStyle/>
          <a:p>
            <a:pPr marL="0" indent="0">
              <a:buNone/>
            </a:pPr>
            <a:r>
              <a:rPr lang="en-US" sz="1000" dirty="0">
                <a:solidFill>
                  <a:schemeClr val="tx2"/>
                </a:solidFill>
              </a:rPr>
              <a:t>Deadlines this week</a:t>
            </a:r>
            <a:endParaRPr lang="en-US" sz="1000" dirty="0"/>
          </a:p>
        </p:txBody>
      </p:sp>
      <p:sp>
        <p:nvSpPr>
          <p:cNvPr id="32" name="Shape 26"/>
          <p:cNvSpPr/>
          <p:nvPr/>
        </p:nvSpPr>
        <p:spPr>
          <a:xfrm>
            <a:off x="6007608" y="2286000"/>
            <a:ext cx="1060704" cy="109728"/>
          </a:xfrm>
          <a:prstGeom prst="roundRect">
            <a:avLst>
              <a:gd name="adj" fmla="val 50000"/>
            </a:avLst>
          </a:prstGeom>
          <a:solidFill>
            <a:schemeClr val="tx2">
              <a:alpha val="25000"/>
            </a:schemeClr>
          </a:solidFill>
          <a:ln/>
        </p:spPr>
      </p:sp>
      <p:sp>
        <p:nvSpPr>
          <p:cNvPr id="33" name="Shape 27"/>
          <p:cNvSpPr/>
          <p:nvPr/>
        </p:nvSpPr>
        <p:spPr>
          <a:xfrm>
            <a:off x="6007608" y="2286000"/>
            <a:ext cx="424282" cy="109728"/>
          </a:xfrm>
          <a:prstGeom prst="roundRect">
            <a:avLst>
              <a:gd name="adj" fmla="val 50000"/>
            </a:avLst>
          </a:prstGeom>
          <a:solidFill>
            <a:schemeClr val="accent2"/>
          </a:solidFill>
          <a:ln/>
        </p:spPr>
      </p:sp>
      <p:sp>
        <p:nvSpPr>
          <p:cNvPr id="34" name="Shape 28"/>
          <p:cNvSpPr/>
          <p:nvPr/>
        </p:nvSpPr>
        <p:spPr>
          <a:xfrm>
            <a:off x="7260336" y="1828800"/>
            <a:ext cx="1243584" cy="731520"/>
          </a:xfrm>
          <a:prstGeom prst="roundRect">
            <a:avLst>
              <a:gd name="adj" fmla="val 10000"/>
            </a:avLst>
          </a:prstGeom>
          <a:solidFill>
            <a:schemeClr val="bg1">
              <a:alpha val="65000"/>
            </a:schemeClr>
          </a:solidFill>
          <a:ln w="9525">
            <a:solidFill>
              <a:schemeClr val="accent5">
                <a:alpha val="40000"/>
              </a:schemeClr>
            </a:solidFill>
            <a:prstDash val="solid"/>
          </a:ln>
        </p:spPr>
      </p:sp>
      <p:sp>
        <p:nvSpPr>
          <p:cNvPr id="35" name="Text 29"/>
          <p:cNvSpPr txBox="1"/>
          <p:nvPr/>
        </p:nvSpPr>
        <p:spPr>
          <a:xfrm>
            <a:off x="7351776" y="1892808"/>
            <a:ext cx="1097280" cy="228600"/>
          </a:xfrm>
          <a:prstGeom prst="rect">
            <a:avLst/>
          </a:prstGeom>
          <a:noFill/>
          <a:ln/>
        </p:spPr>
        <p:txBody>
          <a:bodyPr wrap="square" lIns="0" tIns="0" rIns="0" bIns="0" rtlCol="0" anchor="ctr"/>
          <a:lstStyle/>
          <a:p>
            <a:pPr marL="0" indent="0">
              <a:buNone/>
            </a:pPr>
            <a:r>
              <a:rPr lang="en-US" sz="1000" dirty="0">
                <a:solidFill>
                  <a:schemeClr val="tx2"/>
                </a:solidFill>
              </a:rPr>
              <a:t>Deadline risk</a:t>
            </a:r>
            <a:endParaRPr lang="en-US" sz="1000" dirty="0"/>
          </a:p>
        </p:txBody>
      </p:sp>
      <p:sp>
        <p:nvSpPr>
          <p:cNvPr id="36" name="Shape 30"/>
          <p:cNvSpPr/>
          <p:nvPr/>
        </p:nvSpPr>
        <p:spPr>
          <a:xfrm>
            <a:off x="7351776" y="2286000"/>
            <a:ext cx="1060704" cy="109728"/>
          </a:xfrm>
          <a:prstGeom prst="roundRect">
            <a:avLst>
              <a:gd name="adj" fmla="val 50000"/>
            </a:avLst>
          </a:prstGeom>
          <a:solidFill>
            <a:schemeClr val="tx2">
              <a:alpha val="25000"/>
            </a:schemeClr>
          </a:solidFill>
          <a:ln/>
        </p:spPr>
      </p:sp>
      <p:sp>
        <p:nvSpPr>
          <p:cNvPr id="37" name="Shape 31"/>
          <p:cNvSpPr/>
          <p:nvPr/>
        </p:nvSpPr>
        <p:spPr>
          <a:xfrm>
            <a:off x="7351776" y="2286000"/>
            <a:ext cx="265176" cy="109728"/>
          </a:xfrm>
          <a:prstGeom prst="roundRect">
            <a:avLst>
              <a:gd name="adj" fmla="val 50000"/>
            </a:avLst>
          </a:prstGeom>
          <a:solidFill>
            <a:schemeClr val="accent5"/>
          </a:solidFill>
          <a:ln/>
        </p:spPr>
      </p:sp>
      <p:sp>
        <p:nvSpPr>
          <p:cNvPr id="38" name="Text 32"/>
          <p:cNvSpPr txBox="1"/>
          <p:nvPr/>
        </p:nvSpPr>
        <p:spPr>
          <a:xfrm>
            <a:off x="4572000" y="2697480"/>
            <a:ext cx="744322" cy="237744"/>
          </a:xfrm>
          <a:prstGeom prst="rect">
            <a:avLst/>
          </a:prstGeom>
          <a:noFill/>
          <a:ln/>
        </p:spPr>
        <p:txBody>
          <a:bodyPr wrap="square" lIns="0" tIns="0" rIns="0" bIns="0" rtlCol="0" anchor="ctr"/>
          <a:lstStyle/>
          <a:p>
            <a:pPr marL="0" indent="0" algn="ctr">
              <a:buNone/>
            </a:pPr>
            <a:r>
              <a:rPr lang="en-US" sz="1000" b="1" dirty="0">
                <a:solidFill>
                  <a:schemeClr val="tx2"/>
                </a:solidFill>
              </a:rPr>
              <a:t>MON</a:t>
            </a:r>
            <a:endParaRPr lang="en-US" sz="1000" dirty="0"/>
          </a:p>
        </p:txBody>
      </p:sp>
      <p:sp>
        <p:nvSpPr>
          <p:cNvPr id="39" name="Shape 33"/>
          <p:cNvSpPr/>
          <p:nvPr/>
        </p:nvSpPr>
        <p:spPr>
          <a:xfrm>
            <a:off x="4572000" y="2935224"/>
            <a:ext cx="744322" cy="1225296"/>
          </a:xfrm>
          <a:prstGeom prst="roundRect">
            <a:avLst>
              <a:gd name="adj" fmla="val 6143"/>
            </a:avLst>
          </a:prstGeom>
          <a:solidFill>
            <a:schemeClr val="bg1">
              <a:alpha val="65000"/>
            </a:schemeClr>
          </a:solidFill>
          <a:ln w="6350">
            <a:solidFill>
              <a:schemeClr val="tx2">
                <a:alpha val="20000"/>
              </a:schemeClr>
            </a:solidFill>
            <a:prstDash val="solid"/>
          </a:ln>
        </p:spPr>
      </p:sp>
      <p:sp>
        <p:nvSpPr>
          <p:cNvPr id="40" name="Text 34"/>
          <p:cNvSpPr txBox="1"/>
          <p:nvPr/>
        </p:nvSpPr>
        <p:spPr>
          <a:xfrm>
            <a:off x="5380330" y="2697480"/>
            <a:ext cx="744322" cy="237744"/>
          </a:xfrm>
          <a:prstGeom prst="rect">
            <a:avLst/>
          </a:prstGeom>
          <a:noFill/>
          <a:ln/>
        </p:spPr>
        <p:txBody>
          <a:bodyPr wrap="square" lIns="0" tIns="0" rIns="0" bIns="0" rtlCol="0" anchor="ctr"/>
          <a:lstStyle/>
          <a:p>
            <a:pPr marL="0" indent="0" algn="ctr">
              <a:buNone/>
            </a:pPr>
            <a:r>
              <a:rPr lang="en-US" sz="1000" b="1" dirty="0">
                <a:solidFill>
                  <a:schemeClr val="tx2"/>
                </a:solidFill>
              </a:rPr>
              <a:t>TUE</a:t>
            </a:r>
            <a:endParaRPr lang="en-US" sz="1000" dirty="0"/>
          </a:p>
        </p:txBody>
      </p:sp>
      <p:sp>
        <p:nvSpPr>
          <p:cNvPr id="41" name="Shape 35"/>
          <p:cNvSpPr/>
          <p:nvPr/>
        </p:nvSpPr>
        <p:spPr>
          <a:xfrm>
            <a:off x="5380330" y="2935224"/>
            <a:ext cx="744322" cy="1225296"/>
          </a:xfrm>
          <a:prstGeom prst="roundRect">
            <a:avLst>
              <a:gd name="adj" fmla="val 6143"/>
            </a:avLst>
          </a:prstGeom>
          <a:solidFill>
            <a:schemeClr val="bg1">
              <a:alpha val="65000"/>
            </a:schemeClr>
          </a:solidFill>
          <a:ln w="6350">
            <a:solidFill>
              <a:schemeClr val="tx2">
                <a:alpha val="20000"/>
              </a:schemeClr>
            </a:solidFill>
            <a:prstDash val="solid"/>
          </a:ln>
        </p:spPr>
      </p:sp>
      <p:sp>
        <p:nvSpPr>
          <p:cNvPr id="42" name="Text 36"/>
          <p:cNvSpPr txBox="1"/>
          <p:nvPr/>
        </p:nvSpPr>
        <p:spPr>
          <a:xfrm>
            <a:off x="6188659" y="2697480"/>
            <a:ext cx="744322" cy="237744"/>
          </a:xfrm>
          <a:prstGeom prst="rect">
            <a:avLst/>
          </a:prstGeom>
          <a:noFill/>
          <a:ln/>
        </p:spPr>
        <p:txBody>
          <a:bodyPr wrap="square" lIns="0" tIns="0" rIns="0" bIns="0" rtlCol="0" anchor="ctr"/>
          <a:lstStyle/>
          <a:p>
            <a:pPr marL="0" indent="0" algn="ctr">
              <a:buNone/>
            </a:pPr>
            <a:r>
              <a:rPr lang="en-US" sz="1000" b="1" dirty="0">
                <a:solidFill>
                  <a:schemeClr val="tx2"/>
                </a:solidFill>
              </a:rPr>
              <a:t>WED</a:t>
            </a:r>
            <a:endParaRPr lang="en-US" sz="1000" dirty="0"/>
          </a:p>
        </p:txBody>
      </p:sp>
      <p:sp>
        <p:nvSpPr>
          <p:cNvPr id="43" name="Shape 37"/>
          <p:cNvSpPr/>
          <p:nvPr/>
        </p:nvSpPr>
        <p:spPr>
          <a:xfrm>
            <a:off x="6188659" y="2935224"/>
            <a:ext cx="744322" cy="1225296"/>
          </a:xfrm>
          <a:prstGeom prst="roundRect">
            <a:avLst>
              <a:gd name="adj" fmla="val 6143"/>
            </a:avLst>
          </a:prstGeom>
          <a:solidFill>
            <a:schemeClr val="bg1">
              <a:alpha val="65000"/>
            </a:schemeClr>
          </a:solidFill>
          <a:ln w="6350">
            <a:solidFill>
              <a:schemeClr val="tx2">
                <a:alpha val="20000"/>
              </a:schemeClr>
            </a:solidFill>
            <a:prstDash val="solid"/>
          </a:ln>
        </p:spPr>
      </p:sp>
      <p:sp>
        <p:nvSpPr>
          <p:cNvPr id="44" name="Text 38"/>
          <p:cNvSpPr txBox="1"/>
          <p:nvPr/>
        </p:nvSpPr>
        <p:spPr>
          <a:xfrm>
            <a:off x="6996989" y="2697480"/>
            <a:ext cx="744322" cy="237744"/>
          </a:xfrm>
          <a:prstGeom prst="rect">
            <a:avLst/>
          </a:prstGeom>
          <a:noFill/>
          <a:ln/>
        </p:spPr>
        <p:txBody>
          <a:bodyPr wrap="square" lIns="0" tIns="0" rIns="0" bIns="0" rtlCol="0" anchor="ctr"/>
          <a:lstStyle/>
          <a:p>
            <a:pPr marL="0" indent="0" algn="ctr">
              <a:buNone/>
            </a:pPr>
            <a:r>
              <a:rPr lang="en-US" sz="1000" b="1" dirty="0">
                <a:solidFill>
                  <a:schemeClr val="tx2"/>
                </a:solidFill>
              </a:rPr>
              <a:t>THU</a:t>
            </a:r>
            <a:endParaRPr lang="en-US" sz="1000" dirty="0"/>
          </a:p>
        </p:txBody>
      </p:sp>
      <p:sp>
        <p:nvSpPr>
          <p:cNvPr id="45" name="Shape 39"/>
          <p:cNvSpPr/>
          <p:nvPr/>
        </p:nvSpPr>
        <p:spPr>
          <a:xfrm>
            <a:off x="6996989" y="2935224"/>
            <a:ext cx="744322" cy="1225296"/>
          </a:xfrm>
          <a:prstGeom prst="roundRect">
            <a:avLst>
              <a:gd name="adj" fmla="val 6143"/>
            </a:avLst>
          </a:prstGeom>
          <a:solidFill>
            <a:schemeClr val="bg1">
              <a:alpha val="65000"/>
            </a:schemeClr>
          </a:solidFill>
          <a:ln w="6350">
            <a:solidFill>
              <a:schemeClr val="tx2">
                <a:alpha val="20000"/>
              </a:schemeClr>
            </a:solidFill>
            <a:prstDash val="solid"/>
          </a:ln>
        </p:spPr>
      </p:sp>
      <p:sp>
        <p:nvSpPr>
          <p:cNvPr id="46" name="Text 40"/>
          <p:cNvSpPr txBox="1"/>
          <p:nvPr/>
        </p:nvSpPr>
        <p:spPr>
          <a:xfrm>
            <a:off x="7805318" y="2697480"/>
            <a:ext cx="744322" cy="237744"/>
          </a:xfrm>
          <a:prstGeom prst="rect">
            <a:avLst/>
          </a:prstGeom>
          <a:noFill/>
          <a:ln/>
        </p:spPr>
        <p:txBody>
          <a:bodyPr wrap="square" lIns="0" tIns="0" rIns="0" bIns="0" rtlCol="0" anchor="ctr"/>
          <a:lstStyle/>
          <a:p>
            <a:pPr marL="0" indent="0" algn="ctr">
              <a:buNone/>
            </a:pPr>
            <a:r>
              <a:rPr lang="en-US" sz="1000" b="1" dirty="0">
                <a:solidFill>
                  <a:schemeClr val="tx2"/>
                </a:solidFill>
              </a:rPr>
              <a:t>FRI</a:t>
            </a:r>
            <a:endParaRPr lang="en-US" sz="1000" dirty="0"/>
          </a:p>
        </p:txBody>
      </p:sp>
      <p:sp>
        <p:nvSpPr>
          <p:cNvPr id="47" name="Shape 41"/>
          <p:cNvSpPr/>
          <p:nvPr/>
        </p:nvSpPr>
        <p:spPr>
          <a:xfrm>
            <a:off x="7805318" y="2935224"/>
            <a:ext cx="744322" cy="1225296"/>
          </a:xfrm>
          <a:prstGeom prst="roundRect">
            <a:avLst>
              <a:gd name="adj" fmla="val 6143"/>
            </a:avLst>
          </a:prstGeom>
          <a:solidFill>
            <a:schemeClr val="bg1">
              <a:alpha val="65000"/>
            </a:schemeClr>
          </a:solidFill>
          <a:ln w="6350">
            <a:solidFill>
              <a:schemeClr val="tx2">
                <a:alpha val="20000"/>
              </a:schemeClr>
            </a:solidFill>
            <a:prstDash val="solid"/>
          </a:ln>
        </p:spPr>
      </p:sp>
      <p:sp>
        <p:nvSpPr>
          <p:cNvPr id="48" name="Shape 42"/>
          <p:cNvSpPr/>
          <p:nvPr/>
        </p:nvSpPr>
        <p:spPr>
          <a:xfrm>
            <a:off x="4608576" y="2958084"/>
            <a:ext cx="671170" cy="260604"/>
          </a:xfrm>
          <a:prstGeom prst="roundRect">
            <a:avLst>
              <a:gd name="adj" fmla="val 14035"/>
            </a:avLst>
          </a:prstGeom>
          <a:solidFill>
            <a:schemeClr val="accent1"/>
          </a:solidFill>
          <a:ln/>
        </p:spPr>
      </p:sp>
      <p:sp>
        <p:nvSpPr>
          <p:cNvPr id="49" name="Shape 43"/>
          <p:cNvSpPr/>
          <p:nvPr/>
        </p:nvSpPr>
        <p:spPr>
          <a:xfrm>
            <a:off x="4608576" y="3417570"/>
            <a:ext cx="671170" cy="260604"/>
          </a:xfrm>
          <a:prstGeom prst="roundRect">
            <a:avLst>
              <a:gd name="adj" fmla="val 14035"/>
            </a:avLst>
          </a:prstGeom>
          <a:solidFill>
            <a:schemeClr val="accent2"/>
          </a:solidFill>
          <a:ln/>
        </p:spPr>
      </p:sp>
      <p:sp>
        <p:nvSpPr>
          <p:cNvPr id="50" name="Shape 44"/>
          <p:cNvSpPr/>
          <p:nvPr/>
        </p:nvSpPr>
        <p:spPr>
          <a:xfrm>
            <a:off x="5416906" y="3111246"/>
            <a:ext cx="671170" cy="260604"/>
          </a:xfrm>
          <a:prstGeom prst="roundRect">
            <a:avLst>
              <a:gd name="adj" fmla="val 14035"/>
            </a:avLst>
          </a:prstGeom>
          <a:solidFill>
            <a:schemeClr val="accent2"/>
          </a:solidFill>
          <a:ln/>
        </p:spPr>
      </p:sp>
      <p:sp>
        <p:nvSpPr>
          <p:cNvPr id="51" name="Shape 45"/>
          <p:cNvSpPr/>
          <p:nvPr/>
        </p:nvSpPr>
        <p:spPr>
          <a:xfrm>
            <a:off x="5416906" y="3570732"/>
            <a:ext cx="671170" cy="260604"/>
          </a:xfrm>
          <a:prstGeom prst="roundRect">
            <a:avLst>
              <a:gd name="adj" fmla="val 14035"/>
            </a:avLst>
          </a:prstGeom>
          <a:solidFill>
            <a:schemeClr val="accent1"/>
          </a:solidFill>
          <a:ln/>
        </p:spPr>
      </p:sp>
      <p:sp>
        <p:nvSpPr>
          <p:cNvPr id="52" name="Shape 46"/>
          <p:cNvSpPr/>
          <p:nvPr/>
        </p:nvSpPr>
        <p:spPr>
          <a:xfrm>
            <a:off x="6225235" y="2958084"/>
            <a:ext cx="671170" cy="260604"/>
          </a:xfrm>
          <a:prstGeom prst="roundRect">
            <a:avLst>
              <a:gd name="adj" fmla="val 14035"/>
            </a:avLst>
          </a:prstGeom>
          <a:solidFill>
            <a:schemeClr val="accent1"/>
          </a:solidFill>
          <a:ln/>
        </p:spPr>
      </p:sp>
      <p:sp>
        <p:nvSpPr>
          <p:cNvPr id="53" name="Shape 47"/>
          <p:cNvSpPr/>
          <p:nvPr/>
        </p:nvSpPr>
        <p:spPr>
          <a:xfrm>
            <a:off x="6225235" y="3417570"/>
            <a:ext cx="671170" cy="260604"/>
          </a:xfrm>
          <a:prstGeom prst="roundRect">
            <a:avLst>
              <a:gd name="adj" fmla="val 14035"/>
            </a:avLst>
          </a:prstGeom>
          <a:solidFill>
            <a:schemeClr val="accent2"/>
          </a:solidFill>
          <a:ln/>
        </p:spPr>
      </p:sp>
      <p:sp>
        <p:nvSpPr>
          <p:cNvPr id="54" name="Shape 48"/>
          <p:cNvSpPr/>
          <p:nvPr/>
        </p:nvSpPr>
        <p:spPr>
          <a:xfrm>
            <a:off x="6225235" y="3877056"/>
            <a:ext cx="671170" cy="184023"/>
          </a:xfrm>
          <a:prstGeom prst="roundRect">
            <a:avLst>
              <a:gd name="adj" fmla="val 19876"/>
            </a:avLst>
          </a:prstGeom>
          <a:solidFill>
            <a:schemeClr val="accent5"/>
          </a:solidFill>
          <a:ln/>
        </p:spPr>
      </p:sp>
      <p:sp>
        <p:nvSpPr>
          <p:cNvPr id="55" name="Shape 49"/>
          <p:cNvSpPr/>
          <p:nvPr/>
        </p:nvSpPr>
        <p:spPr>
          <a:xfrm>
            <a:off x="7033565" y="3187827"/>
            <a:ext cx="671170" cy="260604"/>
          </a:xfrm>
          <a:prstGeom prst="roundRect">
            <a:avLst>
              <a:gd name="adj" fmla="val 14035"/>
            </a:avLst>
          </a:prstGeom>
          <a:solidFill>
            <a:schemeClr val="accent1"/>
          </a:solidFill>
          <a:ln/>
        </p:spPr>
      </p:sp>
      <p:sp>
        <p:nvSpPr>
          <p:cNvPr id="56" name="Shape 50"/>
          <p:cNvSpPr/>
          <p:nvPr/>
        </p:nvSpPr>
        <p:spPr>
          <a:xfrm>
            <a:off x="7033565" y="3647313"/>
            <a:ext cx="671170" cy="260604"/>
          </a:xfrm>
          <a:prstGeom prst="roundRect">
            <a:avLst>
              <a:gd name="adj" fmla="val 14035"/>
            </a:avLst>
          </a:prstGeom>
          <a:solidFill>
            <a:schemeClr val="accent2"/>
          </a:solidFill>
          <a:ln/>
        </p:spPr>
      </p:sp>
      <p:sp>
        <p:nvSpPr>
          <p:cNvPr id="57" name="Shape 51"/>
          <p:cNvSpPr/>
          <p:nvPr/>
        </p:nvSpPr>
        <p:spPr>
          <a:xfrm>
            <a:off x="7841894" y="3034665"/>
            <a:ext cx="671170" cy="260604"/>
          </a:xfrm>
          <a:prstGeom prst="roundRect">
            <a:avLst>
              <a:gd name="adj" fmla="val 14035"/>
            </a:avLst>
          </a:prstGeom>
          <a:solidFill>
            <a:schemeClr val="accent2"/>
          </a:solidFill>
          <a:ln/>
        </p:spPr>
      </p:sp>
      <p:sp>
        <p:nvSpPr>
          <p:cNvPr id="58" name="Shape 52"/>
          <p:cNvSpPr/>
          <p:nvPr/>
        </p:nvSpPr>
        <p:spPr>
          <a:xfrm>
            <a:off x="7841894" y="3494151"/>
            <a:ext cx="671170" cy="260604"/>
          </a:xfrm>
          <a:prstGeom prst="roundRect">
            <a:avLst>
              <a:gd name="adj" fmla="val 14035"/>
            </a:avLst>
          </a:prstGeom>
          <a:solidFill>
            <a:schemeClr val="accent1"/>
          </a:solidFill>
          <a:ln/>
        </p:spPr>
      </p:sp>
      <p:sp>
        <p:nvSpPr>
          <p:cNvPr id="59" name="Text 53"/>
          <p:cNvSpPr txBox="1"/>
          <p:nvPr/>
        </p:nvSpPr>
        <p:spPr>
          <a:xfrm>
            <a:off x="4434840" y="4343400"/>
            <a:ext cx="4251960" cy="228600"/>
          </a:xfrm>
          <a:prstGeom prst="rect">
            <a:avLst/>
          </a:prstGeom>
          <a:noFill/>
          <a:ln/>
        </p:spPr>
        <p:txBody>
          <a:bodyPr wrap="square" lIns="0" tIns="0" rIns="0" bIns="0" rtlCol="0" anchor="ctr"/>
          <a:lstStyle/>
          <a:p>
            <a:pPr marL="0" indent="0">
              <a:buNone/>
            </a:pPr>
            <a:r>
              <a:rPr lang="en-US" sz="1000" i="1" dirty="0">
                <a:solidFill>
                  <a:schemeClr val="tx2"/>
                </a:solidFill>
              </a:rPr>
              <a:t>Illustrative interface - replace with real prototype screenshots</a:t>
            </a:r>
            <a:endParaRPr lang="en-US" sz="1000" dirty="0"/>
          </a:p>
        </p:txBody>
      </p:sp>
      <p:sp>
        <p:nvSpPr>
          <p:cNvPr id="60"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7C7"/>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868680"/>
          </a:xfrm>
          <a:prstGeom prst="rect">
            <a:avLst/>
          </a:prstGeom>
          <a:noFill/>
          <a:ln/>
        </p:spPr>
        <p:txBody>
          <a:bodyPr wrap="square" lIns="0" tIns="0" rIns="0" bIns="0" rtlCol="0" anchor="t"/>
          <a:lstStyle/>
          <a:p>
            <a:pPr marL="0" indent="0" algn="l">
              <a:buNone/>
            </a:pPr>
            <a:r>
              <a:rPr lang="en-US" sz="2600" b="1" dirty="0">
                <a:solidFill>
                  <a:schemeClr val="tx1"/>
                </a:solidFill>
              </a:rPr>
              <a:t>Four Stages. One Self-Healing Loop</a:t>
            </a:r>
            <a:endParaRPr lang="en-US" sz="2600" dirty="0"/>
          </a:p>
        </p:txBody>
      </p:sp>
      <p:sp>
        <p:nvSpPr>
          <p:cNvPr id="3" name="Shape 1"/>
          <p:cNvSpPr/>
          <p:nvPr/>
        </p:nvSpPr>
        <p:spPr>
          <a:xfrm>
            <a:off x="457200" y="1280160"/>
            <a:ext cx="1828800" cy="2011680"/>
          </a:xfrm>
          <a:prstGeom prst="roundRect">
            <a:avLst>
              <a:gd name="adj" fmla="val 6000"/>
            </a:avLst>
          </a:prstGeom>
          <a:solidFill>
            <a:schemeClr val="bg2"/>
          </a:solidFill>
          <a:ln w="9525">
            <a:solidFill>
              <a:schemeClr val="accent1">
                <a:alpha val="60000"/>
              </a:schemeClr>
            </a:solidFill>
            <a:prstDash val="solid"/>
          </a:ln>
        </p:spPr>
      </p:sp>
      <p:sp>
        <p:nvSpPr>
          <p:cNvPr id="4" name="Text 2"/>
          <p:cNvSpPr txBox="1"/>
          <p:nvPr/>
        </p:nvSpPr>
        <p:spPr>
          <a:xfrm>
            <a:off x="594360" y="1417320"/>
            <a:ext cx="310896" cy="310896"/>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5" name="Shape 3"/>
          <p:cNvSpPr/>
          <p:nvPr/>
        </p:nvSpPr>
        <p:spPr>
          <a:xfrm>
            <a:off x="1554480" y="1417320"/>
            <a:ext cx="566928" cy="566928"/>
          </a:xfrm>
          <a:prstGeom prst="ellipse">
            <a:avLst/>
          </a:prstGeom>
          <a:solidFill>
            <a:schemeClr val="accent1">
              <a:alpha val="20000"/>
            </a:schemeClr>
          </a:solidFill>
          <a:ln w="12700">
            <a:solidFill>
              <a:schemeClr val="accent1">
                <a:alpha val="60000"/>
              </a:schemeClr>
            </a:solidFill>
            <a:prstDash val="solid"/>
          </a:ln>
        </p:spPr>
      </p:sp>
      <p:pic>
        <p:nvPicPr>
          <p:cNvPr id="6" name="Image 0" descr="preencoded.png"/>
          <p:cNvPicPr>
            <a:picLocks noChangeAspect="1"/>
          </p:cNvPicPr>
          <p:nvPr/>
        </p:nvPicPr>
        <p:blipFill>
          <a:blip r:embed="rId3"/>
          <a:stretch>
            <a:fillRect/>
          </a:stretch>
        </p:blipFill>
        <p:spPr>
          <a:xfrm>
            <a:off x="1707551" y="1570391"/>
            <a:ext cx="260787" cy="260787"/>
          </a:xfrm>
          <a:prstGeom prst="rect">
            <a:avLst/>
          </a:prstGeom>
        </p:spPr>
      </p:pic>
      <p:sp>
        <p:nvSpPr>
          <p:cNvPr id="7" name="Text 4"/>
          <p:cNvSpPr txBox="1"/>
          <p:nvPr/>
        </p:nvSpPr>
        <p:spPr>
          <a:xfrm>
            <a:off x="594360" y="2148840"/>
            <a:ext cx="1554480" cy="502920"/>
          </a:xfrm>
          <a:prstGeom prst="rect">
            <a:avLst/>
          </a:prstGeom>
          <a:noFill/>
          <a:ln/>
        </p:spPr>
        <p:txBody>
          <a:bodyPr wrap="square" lIns="0" tIns="0" rIns="0" bIns="0" rtlCol="0" anchor="t"/>
          <a:lstStyle/>
          <a:p>
            <a:pPr marL="0" indent="0">
              <a:buNone/>
            </a:pPr>
            <a:r>
              <a:rPr lang="en-US" sz="1500" b="1" dirty="0">
                <a:solidFill>
                  <a:schemeClr val="tx1"/>
                </a:solidFill>
              </a:rPr>
              <a:t>Add Tasks and Commitments</a:t>
            </a:r>
            <a:endParaRPr lang="en-US" sz="1500" dirty="0"/>
          </a:p>
        </p:txBody>
      </p:sp>
      <p:sp>
        <p:nvSpPr>
          <p:cNvPr id="8" name="Text 5"/>
          <p:cNvSpPr txBox="1"/>
          <p:nvPr/>
        </p:nvSpPr>
        <p:spPr>
          <a:xfrm>
            <a:off x="594360" y="2697480"/>
            <a:ext cx="1554480" cy="457200"/>
          </a:xfrm>
          <a:prstGeom prst="rect">
            <a:avLst/>
          </a:prstGeom>
          <a:noFill/>
          <a:ln/>
        </p:spPr>
        <p:txBody>
          <a:bodyPr wrap="square" lIns="0" tIns="0" rIns="0" bIns="0" rtlCol="0" anchor="t"/>
          <a:lstStyle/>
          <a:p>
            <a:pPr marL="0" indent="0">
              <a:buNone/>
            </a:pPr>
            <a:r>
              <a:rPr lang="en-US" sz="1200" dirty="0">
                <a:solidFill>
                  <a:schemeClr val="tx2"/>
                </a:solidFill>
              </a:rPr>
              <a:t>Classes, deadlines and personal time.</a:t>
            </a:r>
            <a:endParaRPr lang="en-US" sz="1200" dirty="0"/>
          </a:p>
        </p:txBody>
      </p:sp>
      <p:pic>
        <p:nvPicPr>
          <p:cNvPr id="9" name="Image 1" descr="preencoded.png"/>
          <p:cNvPicPr>
            <a:picLocks noChangeAspect="1"/>
          </p:cNvPicPr>
          <p:nvPr/>
        </p:nvPicPr>
        <p:blipFill>
          <a:blip r:embed="rId4"/>
          <a:stretch>
            <a:fillRect/>
          </a:stretch>
        </p:blipFill>
        <p:spPr>
          <a:xfrm>
            <a:off x="2337816" y="2194560"/>
            <a:ext cx="201168" cy="201168"/>
          </a:xfrm>
          <a:prstGeom prst="rect">
            <a:avLst/>
          </a:prstGeom>
        </p:spPr>
      </p:pic>
      <p:sp>
        <p:nvSpPr>
          <p:cNvPr id="10" name="Shape 6"/>
          <p:cNvSpPr/>
          <p:nvPr/>
        </p:nvSpPr>
        <p:spPr>
          <a:xfrm>
            <a:off x="2590800" y="1280160"/>
            <a:ext cx="1828800" cy="2011680"/>
          </a:xfrm>
          <a:prstGeom prst="roundRect">
            <a:avLst>
              <a:gd name="adj" fmla="val 6000"/>
            </a:avLst>
          </a:prstGeom>
          <a:solidFill>
            <a:schemeClr val="bg2"/>
          </a:solidFill>
          <a:ln w="9525">
            <a:solidFill>
              <a:schemeClr val="accent2">
                <a:alpha val="60000"/>
              </a:schemeClr>
            </a:solidFill>
            <a:prstDash val="solid"/>
          </a:ln>
        </p:spPr>
      </p:sp>
      <p:sp>
        <p:nvSpPr>
          <p:cNvPr id="11" name="Text 7"/>
          <p:cNvSpPr txBox="1"/>
          <p:nvPr/>
        </p:nvSpPr>
        <p:spPr>
          <a:xfrm>
            <a:off x="2727960" y="1417320"/>
            <a:ext cx="310896" cy="310896"/>
          </a:xfrm>
          <a:prstGeom prst="ellipse">
            <a:avLst/>
          </a:prstGeom>
          <a:solidFill>
            <a:schemeClr val="accent2"/>
          </a:solid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2" name="Shape 8"/>
          <p:cNvSpPr/>
          <p:nvPr/>
        </p:nvSpPr>
        <p:spPr>
          <a:xfrm>
            <a:off x="3688080" y="1417320"/>
            <a:ext cx="566928" cy="566928"/>
          </a:xfrm>
          <a:prstGeom prst="ellipse">
            <a:avLst/>
          </a:prstGeom>
          <a:solidFill>
            <a:schemeClr val="accent2">
              <a:alpha val="20000"/>
            </a:schemeClr>
          </a:solidFill>
          <a:ln w="12700">
            <a:solidFill>
              <a:schemeClr val="accent2">
                <a:alpha val="60000"/>
              </a:schemeClr>
            </a:solidFill>
            <a:prstDash val="solid"/>
          </a:ln>
        </p:spPr>
      </p:sp>
      <p:pic>
        <p:nvPicPr>
          <p:cNvPr id="13" name="Image 2" descr="preencoded.png"/>
          <p:cNvPicPr>
            <a:picLocks noChangeAspect="1"/>
          </p:cNvPicPr>
          <p:nvPr/>
        </p:nvPicPr>
        <p:blipFill>
          <a:blip r:embed="rId5"/>
          <a:stretch>
            <a:fillRect/>
          </a:stretch>
        </p:blipFill>
        <p:spPr>
          <a:xfrm>
            <a:off x="3841151" y="1570391"/>
            <a:ext cx="260787" cy="260787"/>
          </a:xfrm>
          <a:prstGeom prst="rect">
            <a:avLst/>
          </a:prstGeom>
        </p:spPr>
      </p:pic>
      <p:sp>
        <p:nvSpPr>
          <p:cNvPr id="14" name="Text 9"/>
          <p:cNvSpPr txBox="1"/>
          <p:nvPr/>
        </p:nvSpPr>
        <p:spPr>
          <a:xfrm>
            <a:off x="2727960" y="2148840"/>
            <a:ext cx="1554480" cy="502920"/>
          </a:xfrm>
          <a:prstGeom prst="rect">
            <a:avLst/>
          </a:prstGeom>
          <a:noFill/>
          <a:ln/>
        </p:spPr>
        <p:txBody>
          <a:bodyPr wrap="square" lIns="0" tIns="0" rIns="0" bIns="0" rtlCol="0" anchor="t"/>
          <a:lstStyle/>
          <a:p>
            <a:pPr marL="0" indent="0">
              <a:buNone/>
            </a:pPr>
            <a:r>
              <a:rPr lang="en-US" sz="1500" b="1" dirty="0">
                <a:solidFill>
                  <a:schemeClr val="tx1"/>
                </a:solidFill>
              </a:rPr>
              <a:t>Generate Weekly Plan</a:t>
            </a:r>
            <a:endParaRPr lang="en-US" sz="1500" dirty="0"/>
          </a:p>
        </p:txBody>
      </p:sp>
      <p:sp>
        <p:nvSpPr>
          <p:cNvPr id="15" name="Text 10"/>
          <p:cNvSpPr txBox="1"/>
          <p:nvPr/>
        </p:nvSpPr>
        <p:spPr>
          <a:xfrm>
            <a:off x="2727960" y="2697480"/>
            <a:ext cx="1554480" cy="457200"/>
          </a:xfrm>
          <a:prstGeom prst="rect">
            <a:avLst/>
          </a:prstGeom>
          <a:noFill/>
          <a:ln/>
        </p:spPr>
        <p:txBody>
          <a:bodyPr wrap="square" lIns="0" tIns="0" rIns="0" bIns="0" rtlCol="0" anchor="t"/>
          <a:lstStyle/>
          <a:p>
            <a:pPr marL="0" indent="0">
              <a:buNone/>
            </a:pPr>
            <a:r>
              <a:rPr lang="en-US" sz="1200" dirty="0">
                <a:solidFill>
                  <a:schemeClr val="tx2"/>
                </a:solidFill>
              </a:rPr>
              <a:t>Flexible work fills your free hours.</a:t>
            </a:r>
            <a:endParaRPr lang="en-US" sz="1200" dirty="0"/>
          </a:p>
        </p:txBody>
      </p:sp>
      <p:pic>
        <p:nvPicPr>
          <p:cNvPr id="16" name="Image 3" descr="preencoded.png"/>
          <p:cNvPicPr>
            <a:picLocks noChangeAspect="1"/>
          </p:cNvPicPr>
          <p:nvPr/>
        </p:nvPicPr>
        <p:blipFill>
          <a:blip r:embed="rId4"/>
          <a:stretch>
            <a:fillRect/>
          </a:stretch>
        </p:blipFill>
        <p:spPr>
          <a:xfrm>
            <a:off x="4471416" y="2194560"/>
            <a:ext cx="201168" cy="201168"/>
          </a:xfrm>
          <a:prstGeom prst="rect">
            <a:avLst/>
          </a:prstGeom>
        </p:spPr>
      </p:pic>
      <p:sp>
        <p:nvSpPr>
          <p:cNvPr id="17" name="Shape 11"/>
          <p:cNvSpPr/>
          <p:nvPr/>
        </p:nvSpPr>
        <p:spPr>
          <a:xfrm>
            <a:off x="4724400" y="1280160"/>
            <a:ext cx="1828800" cy="2011680"/>
          </a:xfrm>
          <a:prstGeom prst="roundRect">
            <a:avLst>
              <a:gd name="adj" fmla="val 6000"/>
            </a:avLst>
          </a:prstGeom>
          <a:solidFill>
            <a:schemeClr val="bg2"/>
          </a:solidFill>
          <a:ln w="9525">
            <a:solidFill>
              <a:schemeClr val="accent5">
                <a:alpha val="60000"/>
              </a:schemeClr>
            </a:solidFill>
            <a:prstDash val="solid"/>
          </a:ln>
        </p:spPr>
      </p:sp>
      <p:sp>
        <p:nvSpPr>
          <p:cNvPr id="18" name="Text 12"/>
          <p:cNvSpPr txBox="1"/>
          <p:nvPr/>
        </p:nvSpPr>
        <p:spPr>
          <a:xfrm>
            <a:off x="4861560" y="1417320"/>
            <a:ext cx="310896" cy="310896"/>
          </a:xfrm>
          <a:prstGeom prst="ellipse">
            <a:avLst/>
          </a:prstGeom>
          <a:solidFill>
            <a:schemeClr val="accent5"/>
          </a:solid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9" name="Shape 13"/>
          <p:cNvSpPr/>
          <p:nvPr/>
        </p:nvSpPr>
        <p:spPr>
          <a:xfrm>
            <a:off x="5821680" y="1417320"/>
            <a:ext cx="566928" cy="566928"/>
          </a:xfrm>
          <a:prstGeom prst="ellipse">
            <a:avLst/>
          </a:prstGeom>
          <a:solidFill>
            <a:schemeClr val="accent5">
              <a:alpha val="20000"/>
            </a:schemeClr>
          </a:solidFill>
          <a:ln w="12700">
            <a:solidFill>
              <a:schemeClr val="accent5">
                <a:alpha val="60000"/>
              </a:schemeClr>
            </a:solidFill>
            <a:prstDash val="solid"/>
          </a:ln>
        </p:spPr>
      </p:sp>
      <p:pic>
        <p:nvPicPr>
          <p:cNvPr id="20" name="Image 4" descr="preencoded.png"/>
          <p:cNvPicPr>
            <a:picLocks noChangeAspect="1"/>
          </p:cNvPicPr>
          <p:nvPr/>
        </p:nvPicPr>
        <p:blipFill>
          <a:blip r:embed="rId6"/>
          <a:stretch>
            <a:fillRect/>
          </a:stretch>
        </p:blipFill>
        <p:spPr>
          <a:xfrm>
            <a:off x="5974751" y="1570391"/>
            <a:ext cx="260787" cy="260787"/>
          </a:xfrm>
          <a:prstGeom prst="rect">
            <a:avLst/>
          </a:prstGeom>
        </p:spPr>
      </p:pic>
      <p:sp>
        <p:nvSpPr>
          <p:cNvPr id="21" name="Text 14"/>
          <p:cNvSpPr txBox="1"/>
          <p:nvPr/>
        </p:nvSpPr>
        <p:spPr>
          <a:xfrm>
            <a:off x="4861560" y="2148840"/>
            <a:ext cx="1554480" cy="502920"/>
          </a:xfrm>
          <a:prstGeom prst="rect">
            <a:avLst/>
          </a:prstGeom>
          <a:noFill/>
          <a:ln/>
        </p:spPr>
        <p:txBody>
          <a:bodyPr wrap="square" lIns="0" tIns="0" rIns="0" bIns="0" rtlCol="0" anchor="t"/>
          <a:lstStyle/>
          <a:p>
            <a:pPr marL="0" indent="0">
              <a:buNone/>
            </a:pPr>
            <a:r>
              <a:rPr lang="en-US" sz="1500" b="1" dirty="0">
                <a:solidFill>
                  <a:schemeClr val="tx1"/>
                </a:solidFill>
              </a:rPr>
              <a:t>Unexpected Disruption</a:t>
            </a:r>
            <a:endParaRPr lang="en-US" sz="1500" dirty="0"/>
          </a:p>
        </p:txBody>
      </p:sp>
      <p:sp>
        <p:nvSpPr>
          <p:cNvPr id="22" name="Text 15"/>
          <p:cNvSpPr txBox="1"/>
          <p:nvPr/>
        </p:nvSpPr>
        <p:spPr>
          <a:xfrm>
            <a:off x="4861560" y="2697480"/>
            <a:ext cx="1554480" cy="457200"/>
          </a:xfrm>
          <a:prstGeom prst="rect">
            <a:avLst/>
          </a:prstGeom>
          <a:noFill/>
          <a:ln/>
        </p:spPr>
        <p:txBody>
          <a:bodyPr wrap="square" lIns="0" tIns="0" rIns="0" bIns="0" rtlCol="0" anchor="t"/>
          <a:lstStyle/>
          <a:p>
            <a:pPr marL="0" indent="0">
              <a:buNone/>
            </a:pPr>
            <a:r>
              <a:rPr lang="en-US" sz="1200" dirty="0">
                <a:solidFill>
                  <a:schemeClr val="tx2"/>
                </a:solidFill>
              </a:rPr>
              <a:t>Illness, urgent work or delays.</a:t>
            </a:r>
            <a:endParaRPr lang="en-US" sz="1200" dirty="0"/>
          </a:p>
        </p:txBody>
      </p:sp>
      <p:pic>
        <p:nvPicPr>
          <p:cNvPr id="23" name="Image 5" descr="preencoded.png"/>
          <p:cNvPicPr>
            <a:picLocks noChangeAspect="1"/>
          </p:cNvPicPr>
          <p:nvPr/>
        </p:nvPicPr>
        <p:blipFill>
          <a:blip r:embed="rId4"/>
          <a:stretch>
            <a:fillRect/>
          </a:stretch>
        </p:blipFill>
        <p:spPr>
          <a:xfrm>
            <a:off x="6605016" y="2194560"/>
            <a:ext cx="201168" cy="201168"/>
          </a:xfrm>
          <a:prstGeom prst="rect">
            <a:avLst/>
          </a:prstGeom>
        </p:spPr>
      </p:pic>
      <p:sp>
        <p:nvSpPr>
          <p:cNvPr id="24" name="Shape 16"/>
          <p:cNvSpPr/>
          <p:nvPr/>
        </p:nvSpPr>
        <p:spPr>
          <a:xfrm>
            <a:off x="6858000" y="1280160"/>
            <a:ext cx="1828800" cy="2011680"/>
          </a:xfrm>
          <a:prstGeom prst="roundRect">
            <a:avLst>
              <a:gd name="adj" fmla="val 6000"/>
            </a:avLst>
          </a:prstGeom>
          <a:solidFill>
            <a:schemeClr val="bg2"/>
          </a:solidFill>
          <a:ln w="9525">
            <a:solidFill>
              <a:schemeClr val="accent3">
                <a:alpha val="60000"/>
              </a:schemeClr>
            </a:solidFill>
            <a:prstDash val="solid"/>
          </a:ln>
        </p:spPr>
      </p:sp>
      <p:sp>
        <p:nvSpPr>
          <p:cNvPr id="25" name="Text 17"/>
          <p:cNvSpPr txBox="1"/>
          <p:nvPr/>
        </p:nvSpPr>
        <p:spPr>
          <a:xfrm>
            <a:off x="6995160" y="1417320"/>
            <a:ext cx="310896" cy="310896"/>
          </a:xfrm>
          <a:prstGeom prst="ellipse">
            <a:avLst/>
          </a:prstGeom>
          <a:solidFill>
            <a:schemeClr val="accent3"/>
          </a:solid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26" name="Shape 18"/>
          <p:cNvSpPr/>
          <p:nvPr/>
        </p:nvSpPr>
        <p:spPr>
          <a:xfrm>
            <a:off x="7955280" y="1417320"/>
            <a:ext cx="566928" cy="566928"/>
          </a:xfrm>
          <a:prstGeom prst="ellipse">
            <a:avLst/>
          </a:prstGeom>
          <a:solidFill>
            <a:schemeClr val="accent3">
              <a:alpha val="20000"/>
            </a:schemeClr>
          </a:solidFill>
          <a:ln w="12700">
            <a:solidFill>
              <a:schemeClr val="accent3">
                <a:alpha val="60000"/>
              </a:schemeClr>
            </a:solidFill>
            <a:prstDash val="solid"/>
          </a:ln>
        </p:spPr>
      </p:sp>
      <p:pic>
        <p:nvPicPr>
          <p:cNvPr id="27" name="Image 6" descr="preencoded.png"/>
          <p:cNvPicPr>
            <a:picLocks noChangeAspect="1"/>
          </p:cNvPicPr>
          <p:nvPr/>
        </p:nvPicPr>
        <p:blipFill>
          <a:blip r:embed="rId7"/>
          <a:stretch>
            <a:fillRect/>
          </a:stretch>
        </p:blipFill>
        <p:spPr>
          <a:xfrm>
            <a:off x="8108351" y="1570391"/>
            <a:ext cx="260787" cy="260787"/>
          </a:xfrm>
          <a:prstGeom prst="rect">
            <a:avLst/>
          </a:prstGeom>
        </p:spPr>
      </p:pic>
      <p:sp>
        <p:nvSpPr>
          <p:cNvPr id="28" name="Text 19"/>
          <p:cNvSpPr txBox="1"/>
          <p:nvPr/>
        </p:nvSpPr>
        <p:spPr>
          <a:xfrm>
            <a:off x="6995160" y="2148840"/>
            <a:ext cx="1554480" cy="502920"/>
          </a:xfrm>
          <a:prstGeom prst="rect">
            <a:avLst/>
          </a:prstGeom>
          <a:noFill/>
          <a:ln/>
        </p:spPr>
        <p:txBody>
          <a:bodyPr wrap="square" lIns="0" tIns="0" rIns="0" bIns="0" rtlCol="0" anchor="t"/>
          <a:lstStyle/>
          <a:p>
            <a:pPr marL="0" indent="0">
              <a:buNone/>
            </a:pPr>
            <a:r>
              <a:rPr lang="en-US" sz="1500" b="1" dirty="0">
                <a:solidFill>
                  <a:schemeClr val="tx1"/>
                </a:solidFill>
              </a:rPr>
              <a:t>Recalculate and Recover</a:t>
            </a:r>
            <a:endParaRPr lang="en-US" sz="1500" dirty="0"/>
          </a:p>
        </p:txBody>
      </p:sp>
      <p:sp>
        <p:nvSpPr>
          <p:cNvPr id="29" name="Text 20"/>
          <p:cNvSpPr txBox="1"/>
          <p:nvPr/>
        </p:nvSpPr>
        <p:spPr>
          <a:xfrm>
            <a:off x="6995160" y="2697480"/>
            <a:ext cx="1554480" cy="457200"/>
          </a:xfrm>
          <a:prstGeom prst="rect">
            <a:avLst/>
          </a:prstGeom>
          <a:noFill/>
          <a:ln/>
        </p:spPr>
        <p:txBody>
          <a:bodyPr wrap="square" lIns="0" tIns="0" rIns="0" bIns="0" rtlCol="0" anchor="t"/>
          <a:lstStyle/>
          <a:p>
            <a:pPr marL="0" indent="0">
              <a:buNone/>
            </a:pPr>
            <a:r>
              <a:rPr lang="en-US" sz="1200" dirty="0">
                <a:solidFill>
                  <a:schemeClr val="tx2"/>
                </a:solidFill>
              </a:rPr>
              <a:t>Flexible tasks move to new slots.</a:t>
            </a:r>
            <a:endParaRPr lang="en-US" sz="1200" dirty="0"/>
          </a:p>
        </p:txBody>
      </p:sp>
      <p:sp>
        <p:nvSpPr>
          <p:cNvPr id="30" name="Shape 21"/>
          <p:cNvSpPr/>
          <p:nvPr/>
        </p:nvSpPr>
        <p:spPr>
          <a:xfrm>
            <a:off x="457200" y="3520440"/>
            <a:ext cx="8229600" cy="1051560"/>
          </a:xfrm>
          <a:prstGeom prst="roundRect">
            <a:avLst>
              <a:gd name="adj" fmla="val 10435"/>
            </a:avLst>
          </a:prstGeom>
          <a:solidFill>
            <a:schemeClr val="bg2"/>
          </a:solidFill>
          <a:ln w="9525">
            <a:solidFill>
              <a:schemeClr val="accent1">
                <a:alpha val="45000"/>
              </a:schemeClr>
            </a:solidFill>
            <a:prstDash val="solid"/>
          </a:ln>
        </p:spPr>
      </p:sp>
      <p:sp>
        <p:nvSpPr>
          <p:cNvPr id="31" name="Shape 22"/>
          <p:cNvSpPr/>
          <p:nvPr/>
        </p:nvSpPr>
        <p:spPr>
          <a:xfrm>
            <a:off x="640080" y="3749040"/>
            <a:ext cx="548640" cy="548640"/>
          </a:xfrm>
          <a:prstGeom prst="ellipse">
            <a:avLst/>
          </a:prstGeom>
          <a:solidFill>
            <a:schemeClr val="accent1">
              <a:alpha val="22000"/>
            </a:schemeClr>
          </a:solidFill>
          <a:ln w="12700">
            <a:solidFill>
              <a:schemeClr val="accent1">
                <a:alpha val="60000"/>
              </a:schemeClr>
            </a:solidFill>
            <a:prstDash val="solid"/>
          </a:ln>
        </p:spPr>
      </p:sp>
      <p:pic>
        <p:nvPicPr>
          <p:cNvPr id="32" name="Image 7" descr="preencoded.png"/>
          <p:cNvPicPr>
            <a:picLocks noChangeAspect="1"/>
          </p:cNvPicPr>
          <p:nvPr/>
        </p:nvPicPr>
        <p:blipFill>
          <a:blip r:embed="rId8"/>
          <a:stretch>
            <a:fillRect/>
          </a:stretch>
        </p:blipFill>
        <p:spPr>
          <a:xfrm>
            <a:off x="788213" y="3897173"/>
            <a:ext cx="252374" cy="252374"/>
          </a:xfrm>
          <a:prstGeom prst="rect">
            <a:avLst/>
          </a:prstGeom>
        </p:spPr>
      </p:pic>
      <p:sp>
        <p:nvSpPr>
          <p:cNvPr id="33" name="Text 23"/>
          <p:cNvSpPr txBox="1"/>
          <p:nvPr/>
        </p:nvSpPr>
        <p:spPr>
          <a:xfrm>
            <a:off x="1325880" y="3703320"/>
            <a:ext cx="2377440" cy="457200"/>
          </a:xfrm>
          <a:prstGeom prst="rect">
            <a:avLst/>
          </a:prstGeom>
          <a:noFill/>
          <a:ln/>
        </p:spPr>
        <p:txBody>
          <a:bodyPr wrap="square" lIns="0" tIns="0" rIns="0" bIns="0" rtlCol="0" anchor="t"/>
          <a:lstStyle/>
          <a:p>
            <a:pPr marL="0" indent="0">
              <a:buNone/>
            </a:pPr>
            <a:r>
              <a:rPr lang="en-US" sz="1500" b="1" dirty="0">
                <a:solidFill>
                  <a:schemeClr val="tx1"/>
                </a:solidFill>
              </a:rPr>
              <a:t>Fixed commitments stay protected</a:t>
            </a:r>
            <a:endParaRPr lang="en-US" sz="1500" dirty="0"/>
          </a:p>
        </p:txBody>
      </p:sp>
      <p:sp>
        <p:nvSpPr>
          <p:cNvPr id="34" name="Text 24"/>
          <p:cNvSpPr txBox="1"/>
          <p:nvPr/>
        </p:nvSpPr>
        <p:spPr>
          <a:xfrm>
            <a:off x="1325880" y="4160520"/>
            <a:ext cx="2377440" cy="274320"/>
          </a:xfrm>
          <a:prstGeom prst="rect">
            <a:avLst/>
          </a:prstGeom>
          <a:noFill/>
          <a:ln/>
        </p:spPr>
        <p:txBody>
          <a:bodyPr wrap="square" lIns="0" tIns="0" rIns="0" bIns="0" rtlCol="0" anchor="t"/>
          <a:lstStyle/>
          <a:p>
            <a:pPr marL="0" indent="0">
              <a:buNone/>
            </a:pPr>
            <a:r>
              <a:rPr lang="en-US" sz="1200" dirty="0">
                <a:solidFill>
                  <a:schemeClr val="tx2"/>
                </a:solidFill>
              </a:rPr>
              <a:t>Only flexible study tasks move.</a:t>
            </a:r>
            <a:endParaRPr lang="en-US" sz="1200" dirty="0"/>
          </a:p>
        </p:txBody>
      </p:sp>
      <p:sp>
        <p:nvSpPr>
          <p:cNvPr id="35" name="Text 25"/>
          <p:cNvSpPr txBox="1"/>
          <p:nvPr/>
        </p:nvSpPr>
        <p:spPr>
          <a:xfrm>
            <a:off x="4114800" y="3657600"/>
            <a:ext cx="777240" cy="292608"/>
          </a:xfrm>
          <a:prstGeom prst="rect">
            <a:avLst/>
          </a:prstGeom>
          <a:noFill/>
          <a:ln/>
        </p:spPr>
        <p:txBody>
          <a:bodyPr wrap="square" lIns="0" tIns="0" rIns="0" bIns="0" rtlCol="0" anchor="ctr"/>
          <a:lstStyle/>
          <a:p>
            <a:pPr marL="0" indent="0">
              <a:buNone/>
            </a:pPr>
            <a:r>
              <a:rPr lang="en-US" sz="1100" dirty="0">
                <a:solidFill>
                  <a:schemeClr val="tx2"/>
                </a:solidFill>
              </a:rPr>
              <a:t>Before</a:t>
            </a:r>
            <a:endParaRPr lang="en-US" sz="1100" dirty="0"/>
          </a:p>
        </p:txBody>
      </p:sp>
      <p:sp>
        <p:nvSpPr>
          <p:cNvPr id="36" name="Text 26"/>
          <p:cNvSpPr txBox="1"/>
          <p:nvPr/>
        </p:nvSpPr>
        <p:spPr>
          <a:xfrm>
            <a:off x="4937760" y="3657600"/>
            <a:ext cx="640080" cy="292608"/>
          </a:xfrm>
          <a:prstGeom prst="roundRect">
            <a:avLst>
              <a:gd name="adj" fmla="val 15625"/>
            </a:avLst>
          </a:prstGeom>
          <a:solidFill>
            <a:schemeClr val="accent1"/>
          </a:solidFill>
          <a:ln/>
        </p:spPr>
        <p:txBody>
          <a:bodyPr wrap="square" lIns="0" tIns="0" rIns="0" bIns="0" rtlCol="0" anchor="ctr"/>
          <a:lstStyle/>
          <a:p>
            <a:pPr marL="0" indent="0" algn="ctr">
              <a:buNone/>
            </a:pPr>
            <a:r>
              <a:rPr lang="en-US" sz="1000" b="1" dirty="0">
                <a:solidFill>
                  <a:schemeClr val="tx1"/>
                </a:solidFill>
              </a:rPr>
              <a:t>Class</a:t>
            </a:r>
            <a:endParaRPr lang="en-US" sz="1000" dirty="0"/>
          </a:p>
        </p:txBody>
      </p:sp>
      <p:sp>
        <p:nvSpPr>
          <p:cNvPr id="37" name="Text 27"/>
          <p:cNvSpPr txBox="1"/>
          <p:nvPr/>
        </p:nvSpPr>
        <p:spPr>
          <a:xfrm>
            <a:off x="5669280" y="3657600"/>
            <a:ext cx="822960" cy="292608"/>
          </a:xfrm>
          <a:prstGeom prst="roundRect">
            <a:avLst>
              <a:gd name="adj" fmla="val 15625"/>
            </a:avLst>
          </a:prstGeom>
          <a:solidFill>
            <a:schemeClr val="accent2"/>
          </a:solidFill>
          <a:ln/>
        </p:spPr>
        <p:txBody>
          <a:bodyPr wrap="square" lIns="0" tIns="0" rIns="0" bIns="0" rtlCol="0" anchor="ctr"/>
          <a:lstStyle/>
          <a:p>
            <a:pPr marL="0" indent="0" algn="ctr">
              <a:buNone/>
            </a:pPr>
            <a:r>
              <a:rPr lang="en-US" sz="1000" b="1" dirty="0">
                <a:solidFill>
                  <a:schemeClr val="tx1"/>
                </a:solidFill>
              </a:rPr>
              <a:t>Study</a:t>
            </a:r>
            <a:endParaRPr lang="en-US" sz="1000" dirty="0"/>
          </a:p>
        </p:txBody>
      </p:sp>
      <p:sp>
        <p:nvSpPr>
          <p:cNvPr id="38" name="Text 28"/>
          <p:cNvSpPr txBox="1"/>
          <p:nvPr/>
        </p:nvSpPr>
        <p:spPr>
          <a:xfrm>
            <a:off x="7726680" y="3657600"/>
            <a:ext cx="777240" cy="292608"/>
          </a:xfrm>
          <a:prstGeom prst="roundRect">
            <a:avLst>
              <a:gd name="adj" fmla="val 15625"/>
            </a:avLst>
          </a:prstGeom>
          <a:solidFill>
            <a:schemeClr val="accent1"/>
          </a:solidFill>
          <a:ln/>
        </p:spPr>
        <p:txBody>
          <a:bodyPr wrap="square" lIns="0" tIns="0" rIns="0" bIns="0" rtlCol="0" anchor="ctr"/>
          <a:lstStyle/>
          <a:p>
            <a:pPr marL="0" indent="0" algn="ctr">
              <a:buNone/>
            </a:pPr>
            <a:r>
              <a:rPr lang="en-US" sz="1000" b="1" dirty="0">
                <a:solidFill>
                  <a:schemeClr val="tx1"/>
                </a:solidFill>
              </a:rPr>
              <a:t>Exam</a:t>
            </a:r>
            <a:endParaRPr lang="en-US" sz="1000" dirty="0"/>
          </a:p>
        </p:txBody>
      </p:sp>
      <p:sp>
        <p:nvSpPr>
          <p:cNvPr id="39" name="Text 29"/>
          <p:cNvSpPr txBox="1"/>
          <p:nvPr/>
        </p:nvSpPr>
        <p:spPr>
          <a:xfrm>
            <a:off x="4114800" y="4114800"/>
            <a:ext cx="777240" cy="292608"/>
          </a:xfrm>
          <a:prstGeom prst="rect">
            <a:avLst/>
          </a:prstGeom>
          <a:noFill/>
          <a:ln/>
        </p:spPr>
        <p:txBody>
          <a:bodyPr wrap="square" lIns="0" tIns="0" rIns="0" bIns="0" rtlCol="0" anchor="ctr"/>
          <a:lstStyle/>
          <a:p>
            <a:pPr marL="0" indent="0">
              <a:buNone/>
            </a:pPr>
            <a:r>
              <a:rPr lang="en-US" sz="1100" dirty="0">
                <a:solidFill>
                  <a:schemeClr val="tx2"/>
                </a:solidFill>
              </a:rPr>
              <a:t>After</a:t>
            </a:r>
            <a:endParaRPr lang="en-US" sz="1100" dirty="0"/>
          </a:p>
        </p:txBody>
      </p:sp>
      <p:sp>
        <p:nvSpPr>
          <p:cNvPr id="40" name="Text 30"/>
          <p:cNvSpPr txBox="1"/>
          <p:nvPr/>
        </p:nvSpPr>
        <p:spPr>
          <a:xfrm>
            <a:off x="4937760" y="4114800"/>
            <a:ext cx="640080" cy="292608"/>
          </a:xfrm>
          <a:prstGeom prst="roundRect">
            <a:avLst>
              <a:gd name="adj" fmla="val 15625"/>
            </a:avLst>
          </a:prstGeom>
          <a:solidFill>
            <a:schemeClr val="accent1"/>
          </a:solidFill>
          <a:ln/>
        </p:spPr>
        <p:txBody>
          <a:bodyPr wrap="square" lIns="0" tIns="0" rIns="0" bIns="0" rtlCol="0" anchor="ctr"/>
          <a:lstStyle/>
          <a:p>
            <a:pPr marL="0" indent="0" algn="ctr">
              <a:buNone/>
            </a:pPr>
            <a:r>
              <a:rPr lang="en-US" sz="1000" b="1" dirty="0">
                <a:solidFill>
                  <a:schemeClr val="tx1"/>
                </a:solidFill>
              </a:rPr>
              <a:t>Class</a:t>
            </a:r>
            <a:endParaRPr lang="en-US" sz="1000" dirty="0"/>
          </a:p>
        </p:txBody>
      </p:sp>
      <p:sp>
        <p:nvSpPr>
          <p:cNvPr id="41" name="Text 31"/>
          <p:cNvSpPr txBox="1"/>
          <p:nvPr/>
        </p:nvSpPr>
        <p:spPr>
          <a:xfrm>
            <a:off x="5669280" y="4114800"/>
            <a:ext cx="1005840" cy="292608"/>
          </a:xfrm>
          <a:prstGeom prst="roundRect">
            <a:avLst>
              <a:gd name="adj" fmla="val 15625"/>
            </a:avLst>
          </a:prstGeom>
          <a:solidFill>
            <a:schemeClr val="accent6">
              <a:alpha val="45000"/>
            </a:schemeClr>
          </a:solidFill>
          <a:ln w="12700">
            <a:solidFill>
              <a:schemeClr val="accent6"/>
            </a:solidFill>
            <a:prstDash val="dash"/>
          </a:ln>
        </p:spPr>
        <p:txBody>
          <a:bodyPr wrap="square" lIns="0" tIns="0" rIns="0" bIns="0" rtlCol="0" anchor="ctr"/>
          <a:lstStyle/>
          <a:p>
            <a:pPr marL="0" indent="0" algn="ctr">
              <a:buNone/>
            </a:pPr>
            <a:r>
              <a:rPr lang="en-US" sz="1000" b="1" dirty="0">
                <a:solidFill>
                  <a:schemeClr val="tx1"/>
                </a:solidFill>
              </a:rPr>
              <a:t>Blocked</a:t>
            </a:r>
            <a:endParaRPr lang="en-US" sz="1000" dirty="0"/>
          </a:p>
        </p:txBody>
      </p:sp>
      <p:sp>
        <p:nvSpPr>
          <p:cNvPr id="42" name="Text 32"/>
          <p:cNvSpPr txBox="1"/>
          <p:nvPr/>
        </p:nvSpPr>
        <p:spPr>
          <a:xfrm>
            <a:off x="6766560" y="4114800"/>
            <a:ext cx="822960" cy="292608"/>
          </a:xfrm>
          <a:prstGeom prst="roundRect">
            <a:avLst>
              <a:gd name="adj" fmla="val 15625"/>
            </a:avLst>
          </a:prstGeom>
          <a:solidFill>
            <a:schemeClr val="accent2"/>
          </a:solidFill>
          <a:ln/>
        </p:spPr>
        <p:txBody>
          <a:bodyPr wrap="square" lIns="0" tIns="0" rIns="0" bIns="0" rtlCol="0" anchor="ctr"/>
          <a:lstStyle/>
          <a:p>
            <a:pPr marL="0" indent="0" algn="ctr">
              <a:buNone/>
            </a:pPr>
            <a:r>
              <a:rPr lang="en-US" sz="1000" b="1" dirty="0">
                <a:solidFill>
                  <a:schemeClr val="tx1"/>
                </a:solidFill>
              </a:rPr>
              <a:t>Study</a:t>
            </a:r>
            <a:endParaRPr lang="en-US" sz="1000" dirty="0"/>
          </a:p>
        </p:txBody>
      </p:sp>
      <p:sp>
        <p:nvSpPr>
          <p:cNvPr id="43" name="Text 33"/>
          <p:cNvSpPr txBox="1"/>
          <p:nvPr/>
        </p:nvSpPr>
        <p:spPr>
          <a:xfrm>
            <a:off x="7726680" y="4114800"/>
            <a:ext cx="777240" cy="292608"/>
          </a:xfrm>
          <a:prstGeom prst="roundRect">
            <a:avLst>
              <a:gd name="adj" fmla="val 15625"/>
            </a:avLst>
          </a:prstGeom>
          <a:solidFill>
            <a:schemeClr val="accent1"/>
          </a:solidFill>
          <a:ln/>
        </p:spPr>
        <p:txBody>
          <a:bodyPr wrap="square" lIns="0" tIns="0" rIns="0" bIns="0" rtlCol="0" anchor="ctr"/>
          <a:lstStyle/>
          <a:p>
            <a:pPr marL="0" indent="0" algn="ctr">
              <a:buNone/>
            </a:pPr>
            <a:r>
              <a:rPr lang="en-US" sz="1000" b="1" dirty="0">
                <a:solidFill>
                  <a:schemeClr val="tx1"/>
                </a:solidFill>
              </a:rPr>
              <a:t>Exam</a:t>
            </a:r>
            <a:endParaRPr lang="en-US" sz="1000" dirty="0"/>
          </a:p>
        </p:txBody>
      </p:sp>
      <p:sp>
        <p:nvSpPr>
          <p:cNvPr id="4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7C7"/>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2377440" y="822960"/>
            <a:ext cx="4389120" cy="4389120"/>
          </a:xfrm>
          <a:prstGeom prst="ellipse">
            <a:avLst/>
          </a:prstGeom>
          <a:solidFill>
            <a:schemeClr val="accent2">
              <a:alpha val="10000"/>
            </a:schemeClr>
          </a:solidFill>
          <a:ln/>
        </p:spPr>
      </p:sp>
      <p:sp>
        <p:nvSpPr>
          <p:cNvPr id="3" name="Text 0"/>
          <p:cNvSpPr>
            <a:spLocks noGrp="1"/>
          </p:cNvSpPr>
          <p:nvPr>
            <p:ph type="title" idx="100" hasCustomPrompt="1"/>
          </p:nvPr>
        </p:nvSpPr>
        <p:spPr>
          <a:xfrm>
            <a:off x="457200" y="320040"/>
            <a:ext cx="8229600" cy="868680"/>
          </a:xfrm>
          <a:prstGeom prst="rect">
            <a:avLst/>
          </a:prstGeom>
          <a:noFill/>
          <a:ln/>
        </p:spPr>
        <p:txBody>
          <a:bodyPr wrap="square" lIns="0" tIns="0" rIns="0" bIns="0" rtlCol="0" anchor="t"/>
          <a:lstStyle/>
          <a:p>
            <a:pPr marL="0" indent="0" algn="l">
              <a:buNone/>
            </a:pPr>
            <a:r>
              <a:rPr lang="en-US" sz="2600" b="1" dirty="0">
                <a:solidFill>
                  <a:schemeClr val="tx1"/>
                </a:solidFill>
              </a:rPr>
              <a:t>When Life Changes, Your Plan Adapts</a:t>
            </a:r>
            <a:endParaRPr lang="en-US" sz="2600" dirty="0"/>
          </a:p>
        </p:txBody>
      </p:sp>
      <p:sp>
        <p:nvSpPr>
          <p:cNvPr id="4" name="Shape 2"/>
          <p:cNvSpPr/>
          <p:nvPr/>
        </p:nvSpPr>
        <p:spPr>
          <a:xfrm>
            <a:off x="3200400" y="1508760"/>
            <a:ext cx="2743200" cy="2743200"/>
          </a:xfrm>
          <a:prstGeom prst="ellipse">
            <a:avLst/>
          </a:prstGeom>
          <a:solidFill>
            <a:schemeClr val="accent2">
              <a:alpha val="7000"/>
            </a:schemeClr>
          </a:solidFill>
          <a:ln w="12700">
            <a:solidFill>
              <a:schemeClr val="accent2">
                <a:alpha val="40000"/>
              </a:schemeClr>
            </a:solidFill>
            <a:prstDash val="solid"/>
          </a:ln>
        </p:spPr>
      </p:sp>
      <p:sp>
        <p:nvSpPr>
          <p:cNvPr id="5" name="Shape 3"/>
          <p:cNvSpPr/>
          <p:nvPr/>
        </p:nvSpPr>
        <p:spPr>
          <a:xfrm>
            <a:off x="3520440" y="1828800"/>
            <a:ext cx="2103120" cy="2103120"/>
          </a:xfrm>
          <a:prstGeom prst="ellipse">
            <a:avLst/>
          </a:prstGeom>
          <a:solidFill>
            <a:schemeClr val="accent2">
              <a:alpha val="12000"/>
            </a:schemeClr>
          </a:solidFill>
          <a:ln w="12700">
            <a:solidFill>
              <a:schemeClr val="accent2">
                <a:alpha val="40000"/>
              </a:schemeClr>
            </a:solidFill>
            <a:prstDash val="solid"/>
          </a:ln>
        </p:spPr>
      </p:sp>
      <p:sp>
        <p:nvSpPr>
          <p:cNvPr id="6" name="Shape 4"/>
          <p:cNvSpPr/>
          <p:nvPr/>
        </p:nvSpPr>
        <p:spPr>
          <a:xfrm>
            <a:off x="3840480" y="2148840"/>
            <a:ext cx="1463040" cy="1463040"/>
          </a:xfrm>
          <a:prstGeom prst="ellipse">
            <a:avLst/>
          </a:prstGeom>
          <a:solidFill>
            <a:schemeClr val="accent2">
              <a:alpha val="18000"/>
            </a:schemeClr>
          </a:solidFill>
          <a:ln w="12700">
            <a:solidFill>
              <a:schemeClr val="accent2">
                <a:alpha val="40000"/>
              </a:schemeClr>
            </a:solidFill>
            <a:prstDash val="solid"/>
          </a:ln>
        </p:spPr>
      </p:sp>
      <p:sp>
        <p:nvSpPr>
          <p:cNvPr id="7" name="Shape 5"/>
          <p:cNvSpPr/>
          <p:nvPr/>
        </p:nvSpPr>
        <p:spPr>
          <a:xfrm>
            <a:off x="457200" y="1371600"/>
            <a:ext cx="2743200" cy="1325880"/>
          </a:xfrm>
          <a:prstGeom prst="roundRect">
            <a:avLst>
              <a:gd name="adj" fmla="val 8276"/>
            </a:avLst>
          </a:prstGeom>
          <a:solidFill>
            <a:schemeClr val="bg2"/>
          </a:solidFill>
          <a:ln w="9525">
            <a:solidFill>
              <a:schemeClr val="accent6">
                <a:alpha val="60000"/>
              </a:schemeClr>
            </a:solidFill>
            <a:prstDash val="solid"/>
          </a:ln>
        </p:spPr>
      </p:sp>
      <p:sp>
        <p:nvSpPr>
          <p:cNvPr id="8" name="Shape 6"/>
          <p:cNvSpPr/>
          <p:nvPr/>
        </p:nvSpPr>
        <p:spPr>
          <a:xfrm>
            <a:off x="640080" y="1554480"/>
            <a:ext cx="548640" cy="548640"/>
          </a:xfrm>
          <a:prstGeom prst="ellipse">
            <a:avLst/>
          </a:prstGeom>
          <a:solidFill>
            <a:schemeClr val="accent6">
              <a:alpha val="20000"/>
            </a:schemeClr>
          </a:solidFill>
          <a:ln w="12700">
            <a:solidFill>
              <a:schemeClr val="accent6">
                <a:alpha val="60000"/>
              </a:schemeClr>
            </a:solidFill>
            <a:prstDash val="solid"/>
          </a:ln>
        </p:spPr>
      </p:sp>
      <p:pic>
        <p:nvPicPr>
          <p:cNvPr id="9" name="Image 0" descr="preencoded.png"/>
          <p:cNvPicPr>
            <a:picLocks noChangeAspect="1"/>
          </p:cNvPicPr>
          <p:nvPr/>
        </p:nvPicPr>
        <p:blipFill>
          <a:blip r:embed="rId3"/>
          <a:stretch>
            <a:fillRect/>
          </a:stretch>
        </p:blipFill>
        <p:spPr>
          <a:xfrm>
            <a:off x="788213" y="1702613"/>
            <a:ext cx="252374" cy="252374"/>
          </a:xfrm>
          <a:prstGeom prst="rect">
            <a:avLst/>
          </a:prstGeom>
        </p:spPr>
      </p:pic>
      <p:sp>
        <p:nvSpPr>
          <p:cNvPr id="10" name="Text 7"/>
          <p:cNvSpPr txBox="1"/>
          <p:nvPr/>
        </p:nvSpPr>
        <p:spPr>
          <a:xfrm>
            <a:off x="640080" y="2176272"/>
            <a:ext cx="2423160" cy="256032"/>
          </a:xfrm>
          <a:prstGeom prst="rect">
            <a:avLst/>
          </a:prstGeom>
          <a:noFill/>
          <a:ln/>
        </p:spPr>
        <p:txBody>
          <a:bodyPr wrap="square" lIns="0" tIns="0" rIns="0" bIns="0" rtlCol="0" anchor="ctr"/>
          <a:lstStyle/>
          <a:p>
            <a:pPr marL="0" indent="0">
              <a:buNone/>
            </a:pPr>
            <a:r>
              <a:rPr lang="en-US" sz="1400" b="1" dirty="0">
                <a:solidFill>
                  <a:schemeClr val="tx1"/>
                </a:solidFill>
              </a:rPr>
              <a:t>Illness or unavailability</a:t>
            </a:r>
            <a:endParaRPr lang="en-US" sz="1400" dirty="0"/>
          </a:p>
        </p:txBody>
      </p:sp>
      <p:sp>
        <p:nvSpPr>
          <p:cNvPr id="11" name="Text 8"/>
          <p:cNvSpPr txBox="1"/>
          <p:nvPr/>
        </p:nvSpPr>
        <p:spPr>
          <a:xfrm>
            <a:off x="640080" y="2414016"/>
            <a:ext cx="2423160" cy="228600"/>
          </a:xfrm>
          <a:prstGeom prst="rect">
            <a:avLst/>
          </a:prstGeom>
          <a:noFill/>
          <a:ln/>
        </p:spPr>
        <p:txBody>
          <a:bodyPr wrap="square" lIns="0" tIns="0" rIns="0" bIns="0" rtlCol="0" anchor="ctr"/>
          <a:lstStyle/>
          <a:p>
            <a:pPr marL="0" indent="0">
              <a:buNone/>
            </a:pPr>
            <a:r>
              <a:rPr lang="en-US" sz="1200" dirty="0">
                <a:solidFill>
                  <a:schemeClr val="tx2"/>
                </a:solidFill>
              </a:rPr>
              <a:t>Blocked hours are skipped.</a:t>
            </a:r>
            <a:endParaRPr lang="en-US" sz="1200" dirty="0"/>
          </a:p>
        </p:txBody>
      </p:sp>
      <p:sp>
        <p:nvSpPr>
          <p:cNvPr id="12" name="Shape 9"/>
          <p:cNvSpPr/>
          <p:nvPr/>
        </p:nvSpPr>
        <p:spPr>
          <a:xfrm>
            <a:off x="3200400" y="2029968"/>
            <a:ext cx="868680" cy="530352"/>
          </a:xfrm>
          <a:prstGeom prst="line">
            <a:avLst/>
          </a:prstGeom>
          <a:noFill/>
          <a:ln w="19050">
            <a:solidFill>
              <a:schemeClr val="accent6"/>
            </a:solidFill>
            <a:prstDash val="dash"/>
          </a:ln>
        </p:spPr>
      </p:sp>
      <p:sp>
        <p:nvSpPr>
          <p:cNvPr id="13" name="Shape 10"/>
          <p:cNvSpPr/>
          <p:nvPr/>
        </p:nvSpPr>
        <p:spPr>
          <a:xfrm>
            <a:off x="457200" y="2971800"/>
            <a:ext cx="2743200" cy="1325880"/>
          </a:xfrm>
          <a:prstGeom prst="roundRect">
            <a:avLst>
              <a:gd name="adj" fmla="val 8276"/>
            </a:avLst>
          </a:prstGeom>
          <a:solidFill>
            <a:schemeClr val="bg2"/>
          </a:solidFill>
          <a:ln w="9525">
            <a:solidFill>
              <a:schemeClr val="accent5">
                <a:alpha val="60000"/>
              </a:schemeClr>
            </a:solidFill>
            <a:prstDash val="solid"/>
          </a:ln>
        </p:spPr>
      </p:sp>
      <p:sp>
        <p:nvSpPr>
          <p:cNvPr id="14" name="Shape 11"/>
          <p:cNvSpPr/>
          <p:nvPr/>
        </p:nvSpPr>
        <p:spPr>
          <a:xfrm>
            <a:off x="640080" y="3154680"/>
            <a:ext cx="548640" cy="548640"/>
          </a:xfrm>
          <a:prstGeom prst="ellipse">
            <a:avLst/>
          </a:prstGeom>
          <a:solidFill>
            <a:schemeClr val="accent5">
              <a:alpha val="20000"/>
            </a:schemeClr>
          </a:solidFill>
          <a:ln w="12700">
            <a:solidFill>
              <a:schemeClr val="accent5">
                <a:alpha val="60000"/>
              </a:schemeClr>
            </a:solidFill>
            <a:prstDash val="solid"/>
          </a:ln>
        </p:spPr>
      </p:sp>
      <p:pic>
        <p:nvPicPr>
          <p:cNvPr id="15" name="Image 1" descr="preencoded.png"/>
          <p:cNvPicPr>
            <a:picLocks noChangeAspect="1"/>
          </p:cNvPicPr>
          <p:nvPr/>
        </p:nvPicPr>
        <p:blipFill>
          <a:blip r:embed="rId4"/>
          <a:stretch>
            <a:fillRect/>
          </a:stretch>
        </p:blipFill>
        <p:spPr>
          <a:xfrm>
            <a:off x="788213" y="3302813"/>
            <a:ext cx="252374" cy="252374"/>
          </a:xfrm>
          <a:prstGeom prst="rect">
            <a:avLst/>
          </a:prstGeom>
        </p:spPr>
      </p:pic>
      <p:sp>
        <p:nvSpPr>
          <p:cNvPr id="16" name="Text 12"/>
          <p:cNvSpPr txBox="1"/>
          <p:nvPr/>
        </p:nvSpPr>
        <p:spPr>
          <a:xfrm>
            <a:off x="640080" y="3776472"/>
            <a:ext cx="2423160" cy="256032"/>
          </a:xfrm>
          <a:prstGeom prst="rect">
            <a:avLst/>
          </a:prstGeom>
          <a:noFill/>
          <a:ln/>
        </p:spPr>
        <p:txBody>
          <a:bodyPr wrap="square" lIns="0" tIns="0" rIns="0" bIns="0" rtlCol="0" anchor="ctr"/>
          <a:lstStyle/>
          <a:p>
            <a:pPr marL="0" indent="0">
              <a:buNone/>
            </a:pPr>
            <a:r>
              <a:rPr lang="en-US" sz="1400" b="1" dirty="0">
                <a:solidFill>
                  <a:schemeClr val="tx1"/>
                </a:solidFill>
              </a:rPr>
              <a:t>Urgent assignment</a:t>
            </a:r>
            <a:endParaRPr lang="en-US" sz="1400" dirty="0"/>
          </a:p>
        </p:txBody>
      </p:sp>
      <p:sp>
        <p:nvSpPr>
          <p:cNvPr id="17" name="Text 13"/>
          <p:cNvSpPr txBox="1"/>
          <p:nvPr/>
        </p:nvSpPr>
        <p:spPr>
          <a:xfrm>
            <a:off x="640080" y="4014216"/>
            <a:ext cx="2423160" cy="228600"/>
          </a:xfrm>
          <a:prstGeom prst="rect">
            <a:avLst/>
          </a:prstGeom>
          <a:noFill/>
          <a:ln/>
        </p:spPr>
        <p:txBody>
          <a:bodyPr wrap="square" lIns="0" tIns="0" rIns="0" bIns="0" rtlCol="0" anchor="ctr"/>
          <a:lstStyle/>
          <a:p>
            <a:pPr marL="0" indent="0">
              <a:buNone/>
            </a:pPr>
            <a:r>
              <a:rPr lang="en-US" sz="1200" dirty="0">
                <a:solidFill>
                  <a:schemeClr val="tx2"/>
                </a:solidFill>
              </a:rPr>
              <a:t>A new deadline joins the plan.</a:t>
            </a:r>
            <a:endParaRPr lang="en-US" sz="1200" dirty="0"/>
          </a:p>
        </p:txBody>
      </p:sp>
      <p:sp>
        <p:nvSpPr>
          <p:cNvPr id="18" name="Shape 14"/>
          <p:cNvSpPr/>
          <p:nvPr/>
        </p:nvSpPr>
        <p:spPr>
          <a:xfrm flipV="1">
            <a:off x="3200400" y="3200400"/>
            <a:ext cx="868680" cy="429768"/>
          </a:xfrm>
          <a:prstGeom prst="line">
            <a:avLst/>
          </a:prstGeom>
          <a:noFill/>
          <a:ln w="19050">
            <a:solidFill>
              <a:schemeClr val="accent5"/>
            </a:solidFill>
            <a:prstDash val="dash"/>
          </a:ln>
        </p:spPr>
      </p:sp>
      <p:sp>
        <p:nvSpPr>
          <p:cNvPr id="19" name="Shape 15"/>
          <p:cNvSpPr/>
          <p:nvPr/>
        </p:nvSpPr>
        <p:spPr>
          <a:xfrm>
            <a:off x="5943600" y="1371600"/>
            <a:ext cx="2743200" cy="1325880"/>
          </a:xfrm>
          <a:prstGeom prst="roundRect">
            <a:avLst>
              <a:gd name="adj" fmla="val 8276"/>
            </a:avLst>
          </a:prstGeom>
          <a:solidFill>
            <a:schemeClr val="bg2"/>
          </a:solidFill>
          <a:ln w="9525">
            <a:solidFill>
              <a:schemeClr val="accent1">
                <a:alpha val="60000"/>
              </a:schemeClr>
            </a:solidFill>
            <a:prstDash val="solid"/>
          </a:ln>
        </p:spPr>
      </p:sp>
      <p:sp>
        <p:nvSpPr>
          <p:cNvPr id="20" name="Shape 16"/>
          <p:cNvSpPr/>
          <p:nvPr/>
        </p:nvSpPr>
        <p:spPr>
          <a:xfrm>
            <a:off x="6126480" y="1554480"/>
            <a:ext cx="548640" cy="548640"/>
          </a:xfrm>
          <a:prstGeom prst="ellipse">
            <a:avLst/>
          </a:prstGeom>
          <a:solidFill>
            <a:schemeClr val="accent1">
              <a:alpha val="20000"/>
            </a:schemeClr>
          </a:solidFill>
          <a:ln w="12700">
            <a:solidFill>
              <a:schemeClr val="accent1">
                <a:alpha val="60000"/>
              </a:schemeClr>
            </a:solidFill>
            <a:prstDash val="solid"/>
          </a:ln>
        </p:spPr>
      </p:sp>
      <p:pic>
        <p:nvPicPr>
          <p:cNvPr id="21" name="Image 2" descr="preencoded.png"/>
          <p:cNvPicPr>
            <a:picLocks noChangeAspect="1"/>
          </p:cNvPicPr>
          <p:nvPr/>
        </p:nvPicPr>
        <p:blipFill>
          <a:blip r:embed="rId5"/>
          <a:stretch>
            <a:fillRect/>
          </a:stretch>
        </p:blipFill>
        <p:spPr>
          <a:xfrm>
            <a:off x="6274613" y="1702613"/>
            <a:ext cx="252374" cy="252374"/>
          </a:xfrm>
          <a:prstGeom prst="rect">
            <a:avLst/>
          </a:prstGeom>
        </p:spPr>
      </p:pic>
      <p:sp>
        <p:nvSpPr>
          <p:cNvPr id="22" name="Text 17"/>
          <p:cNvSpPr txBox="1"/>
          <p:nvPr/>
        </p:nvSpPr>
        <p:spPr>
          <a:xfrm>
            <a:off x="6126480" y="2176272"/>
            <a:ext cx="2423160" cy="256032"/>
          </a:xfrm>
          <a:prstGeom prst="rect">
            <a:avLst/>
          </a:prstGeom>
          <a:noFill/>
          <a:ln/>
        </p:spPr>
        <p:txBody>
          <a:bodyPr wrap="square" lIns="0" tIns="0" rIns="0" bIns="0" rtlCol="0" anchor="ctr"/>
          <a:lstStyle/>
          <a:p>
            <a:pPr marL="0" indent="0">
              <a:buNone/>
            </a:pPr>
            <a:r>
              <a:rPr lang="en-US" sz="1400" b="1" dirty="0">
                <a:solidFill>
                  <a:schemeClr val="tx1"/>
                </a:solidFill>
              </a:rPr>
              <a:t>Extended class or commitment</a:t>
            </a:r>
            <a:endParaRPr lang="en-US" sz="1400" dirty="0"/>
          </a:p>
        </p:txBody>
      </p:sp>
      <p:sp>
        <p:nvSpPr>
          <p:cNvPr id="23" name="Text 18"/>
          <p:cNvSpPr txBox="1"/>
          <p:nvPr/>
        </p:nvSpPr>
        <p:spPr>
          <a:xfrm>
            <a:off x="6126480" y="2414016"/>
            <a:ext cx="2423160" cy="228600"/>
          </a:xfrm>
          <a:prstGeom prst="rect">
            <a:avLst/>
          </a:prstGeom>
          <a:noFill/>
          <a:ln/>
        </p:spPr>
        <p:txBody>
          <a:bodyPr wrap="square" lIns="0" tIns="0" rIns="0" bIns="0" rtlCol="0" anchor="ctr"/>
          <a:lstStyle/>
          <a:p>
            <a:pPr marL="0" indent="0">
              <a:buNone/>
            </a:pPr>
            <a:r>
              <a:rPr lang="en-US" sz="1200" dirty="0">
                <a:solidFill>
                  <a:schemeClr val="tx2"/>
                </a:solidFill>
              </a:rPr>
              <a:t>Fixed time grows, tasks move.</a:t>
            </a:r>
            <a:endParaRPr lang="en-US" sz="1200" dirty="0"/>
          </a:p>
        </p:txBody>
      </p:sp>
      <p:sp>
        <p:nvSpPr>
          <p:cNvPr id="24" name="Shape 19"/>
          <p:cNvSpPr/>
          <p:nvPr/>
        </p:nvSpPr>
        <p:spPr>
          <a:xfrm flipH="1">
            <a:off x="5074920" y="2029968"/>
            <a:ext cx="868680" cy="530352"/>
          </a:xfrm>
          <a:prstGeom prst="line">
            <a:avLst/>
          </a:prstGeom>
          <a:noFill/>
          <a:ln w="19050">
            <a:solidFill>
              <a:schemeClr val="accent1"/>
            </a:solidFill>
            <a:prstDash val="dash"/>
          </a:ln>
        </p:spPr>
      </p:sp>
      <p:sp>
        <p:nvSpPr>
          <p:cNvPr id="25" name="Shape 20"/>
          <p:cNvSpPr/>
          <p:nvPr/>
        </p:nvSpPr>
        <p:spPr>
          <a:xfrm>
            <a:off x="5943600" y="2971800"/>
            <a:ext cx="2743200" cy="1325880"/>
          </a:xfrm>
          <a:prstGeom prst="roundRect">
            <a:avLst>
              <a:gd name="adj" fmla="val 8276"/>
            </a:avLst>
          </a:prstGeom>
          <a:solidFill>
            <a:schemeClr val="bg2"/>
          </a:solidFill>
          <a:ln w="9525">
            <a:solidFill>
              <a:schemeClr val="accent3">
                <a:alpha val="60000"/>
              </a:schemeClr>
            </a:solidFill>
            <a:prstDash val="solid"/>
          </a:ln>
        </p:spPr>
      </p:sp>
      <p:sp>
        <p:nvSpPr>
          <p:cNvPr id="26" name="Shape 21"/>
          <p:cNvSpPr/>
          <p:nvPr/>
        </p:nvSpPr>
        <p:spPr>
          <a:xfrm>
            <a:off x="6126480" y="3154680"/>
            <a:ext cx="548640" cy="548640"/>
          </a:xfrm>
          <a:prstGeom prst="ellipse">
            <a:avLst/>
          </a:prstGeom>
          <a:solidFill>
            <a:schemeClr val="accent3">
              <a:alpha val="20000"/>
            </a:schemeClr>
          </a:solidFill>
          <a:ln w="12700">
            <a:solidFill>
              <a:schemeClr val="accent3">
                <a:alpha val="60000"/>
              </a:schemeClr>
            </a:solidFill>
            <a:prstDash val="solid"/>
          </a:ln>
        </p:spPr>
      </p:sp>
      <p:pic>
        <p:nvPicPr>
          <p:cNvPr id="27" name="Image 3" descr="preencoded.png"/>
          <p:cNvPicPr>
            <a:picLocks noChangeAspect="1"/>
          </p:cNvPicPr>
          <p:nvPr/>
        </p:nvPicPr>
        <p:blipFill>
          <a:blip r:embed="rId6"/>
          <a:stretch>
            <a:fillRect/>
          </a:stretch>
        </p:blipFill>
        <p:spPr>
          <a:xfrm>
            <a:off x="6274613" y="3302813"/>
            <a:ext cx="252374" cy="252374"/>
          </a:xfrm>
          <a:prstGeom prst="rect">
            <a:avLst/>
          </a:prstGeom>
        </p:spPr>
      </p:pic>
      <p:sp>
        <p:nvSpPr>
          <p:cNvPr id="28" name="Text 22"/>
          <p:cNvSpPr txBox="1"/>
          <p:nvPr/>
        </p:nvSpPr>
        <p:spPr>
          <a:xfrm>
            <a:off x="6126480" y="3776472"/>
            <a:ext cx="2423160" cy="256032"/>
          </a:xfrm>
          <a:prstGeom prst="rect">
            <a:avLst/>
          </a:prstGeom>
          <a:noFill/>
          <a:ln/>
        </p:spPr>
        <p:txBody>
          <a:bodyPr wrap="square" lIns="0" tIns="0" rIns="0" bIns="0" rtlCol="0" anchor="ctr"/>
          <a:lstStyle/>
          <a:p>
            <a:pPr marL="0" indent="0">
              <a:buNone/>
            </a:pPr>
            <a:r>
              <a:rPr lang="en-US" sz="1400" b="1" dirty="0">
                <a:solidFill>
                  <a:schemeClr val="tx1"/>
                </a:solidFill>
              </a:rPr>
              <a:t>Missed study session</a:t>
            </a:r>
            <a:endParaRPr lang="en-US" sz="1400" dirty="0"/>
          </a:p>
        </p:txBody>
      </p:sp>
      <p:sp>
        <p:nvSpPr>
          <p:cNvPr id="29" name="Text 23"/>
          <p:cNvSpPr txBox="1"/>
          <p:nvPr/>
        </p:nvSpPr>
        <p:spPr>
          <a:xfrm>
            <a:off x="6126480" y="4014216"/>
            <a:ext cx="2423160" cy="228600"/>
          </a:xfrm>
          <a:prstGeom prst="rect">
            <a:avLst/>
          </a:prstGeom>
          <a:noFill/>
          <a:ln/>
        </p:spPr>
        <p:txBody>
          <a:bodyPr wrap="square" lIns="0" tIns="0" rIns="0" bIns="0" rtlCol="0" anchor="ctr"/>
          <a:lstStyle/>
          <a:p>
            <a:pPr marL="0" indent="0">
              <a:buNone/>
            </a:pPr>
            <a:r>
              <a:rPr lang="en-US" sz="1200" dirty="0">
                <a:solidFill>
                  <a:schemeClr val="tx2"/>
                </a:solidFill>
              </a:rPr>
              <a:t>Missed work is rescheduled.</a:t>
            </a:r>
            <a:endParaRPr lang="en-US" sz="1200" dirty="0"/>
          </a:p>
        </p:txBody>
      </p:sp>
      <p:sp>
        <p:nvSpPr>
          <p:cNvPr id="30" name="Shape 24"/>
          <p:cNvSpPr/>
          <p:nvPr/>
        </p:nvSpPr>
        <p:spPr>
          <a:xfrm flipH="1" flipV="1">
            <a:off x="5074920" y="3200400"/>
            <a:ext cx="868680" cy="429768"/>
          </a:xfrm>
          <a:prstGeom prst="line">
            <a:avLst/>
          </a:prstGeom>
          <a:noFill/>
          <a:ln w="19050">
            <a:solidFill>
              <a:schemeClr val="accent3"/>
            </a:solidFill>
            <a:prstDash val="dash"/>
          </a:ln>
        </p:spPr>
      </p:sp>
      <p:sp>
        <p:nvSpPr>
          <p:cNvPr id="31" name="Shape 25"/>
          <p:cNvSpPr/>
          <p:nvPr/>
        </p:nvSpPr>
        <p:spPr>
          <a:xfrm>
            <a:off x="3977640" y="2286000"/>
            <a:ext cx="1188720" cy="1188720"/>
          </a:xfrm>
          <a:prstGeom prst="ellipse">
            <a:avLst/>
          </a:prstGeom>
          <a:solidFill>
            <a:schemeClr val="accent2"/>
          </a:solidFill>
          <a:ln w="25400">
            <a:solidFill>
              <a:schemeClr val="tx1"/>
            </a:solidFill>
            <a:prstDash val="solid"/>
          </a:ln>
          <a:effectLst>
            <a:outerShdw blurRad="228600" dist="50800" dir="5400000" algn="bl" rotWithShape="0">
              <a:srgbClr val="8B5CF6">
                <a:alpha val="70000"/>
              </a:srgbClr>
            </a:outerShdw>
          </a:effectLst>
        </p:spPr>
      </p:sp>
      <p:pic>
        <p:nvPicPr>
          <p:cNvPr id="32" name="Image 4" descr="preencoded.png"/>
          <p:cNvPicPr>
            <a:picLocks noChangeAspect="1"/>
          </p:cNvPicPr>
          <p:nvPr/>
        </p:nvPicPr>
        <p:blipFill>
          <a:blip r:embed="rId7"/>
          <a:stretch>
            <a:fillRect/>
          </a:stretch>
        </p:blipFill>
        <p:spPr>
          <a:xfrm>
            <a:off x="4389120" y="2423160"/>
            <a:ext cx="365760" cy="365760"/>
          </a:xfrm>
          <a:prstGeom prst="rect">
            <a:avLst/>
          </a:prstGeom>
        </p:spPr>
      </p:pic>
      <p:sp>
        <p:nvSpPr>
          <p:cNvPr id="33" name="Text 26"/>
          <p:cNvSpPr txBox="1"/>
          <p:nvPr/>
        </p:nvSpPr>
        <p:spPr>
          <a:xfrm>
            <a:off x="4023360" y="2926080"/>
            <a:ext cx="1097280" cy="274320"/>
          </a:xfrm>
          <a:prstGeom prst="rect">
            <a:avLst/>
          </a:prstGeom>
          <a:noFill/>
          <a:ln/>
        </p:spPr>
        <p:txBody>
          <a:bodyPr wrap="square" lIns="0" tIns="0" rIns="0" bIns="0" rtlCol="0" anchor="ctr"/>
          <a:lstStyle/>
          <a:p>
            <a:pPr marL="0" indent="0" algn="ctr">
              <a:buNone/>
            </a:pPr>
            <a:r>
              <a:rPr lang="en-US" sz="1400" b="1" kern="0" spc="200" dirty="0">
                <a:solidFill>
                  <a:schemeClr val="tx1"/>
                </a:solidFill>
              </a:rPr>
              <a:t>CHAOS</a:t>
            </a:r>
            <a:endParaRPr lang="en-US" sz="1400" dirty="0"/>
          </a:p>
        </p:txBody>
      </p:sp>
      <p:sp>
        <p:nvSpPr>
          <p:cNvPr id="3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7C7"/>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868680"/>
          </a:xfrm>
          <a:prstGeom prst="rect">
            <a:avLst/>
          </a:prstGeom>
          <a:noFill/>
          <a:ln/>
        </p:spPr>
        <p:txBody>
          <a:bodyPr wrap="square" lIns="0" tIns="0" rIns="0" bIns="0" rtlCol="0" anchor="t"/>
          <a:lstStyle/>
          <a:p>
            <a:pPr marL="0" indent="0" algn="l">
              <a:buNone/>
            </a:pPr>
            <a:r>
              <a:rPr lang="en-US" sz="2600" b="1" dirty="0">
                <a:solidFill>
                  <a:schemeClr val="tx1"/>
                </a:solidFill>
              </a:rPr>
              <a:t>Before vs After: Recovery in Action</a:t>
            </a:r>
            <a:endParaRPr lang="en-US" sz="2600" dirty="0"/>
          </a:p>
        </p:txBody>
      </p:sp>
      <p:sp>
        <p:nvSpPr>
          <p:cNvPr id="3" name="Text 1"/>
          <p:cNvSpPr txBox="1"/>
          <p:nvPr/>
        </p:nvSpPr>
        <p:spPr>
          <a:xfrm>
            <a:off x="457200" y="914400"/>
            <a:ext cx="3200400" cy="256032"/>
          </a:xfrm>
          <a:prstGeom prst="roundRect">
            <a:avLst>
              <a:gd name="adj" fmla="val 50000"/>
            </a:avLst>
          </a:prstGeom>
          <a:solidFill>
            <a:schemeClr val="accent3">
              <a:alpha val="20000"/>
            </a:schemeClr>
          </a:solidFill>
          <a:ln w="12700">
            <a:solidFill>
              <a:schemeClr val="accent3">
                <a:alpha val="70000"/>
              </a:schemeClr>
            </a:solidFill>
          </a:ln>
        </p:spPr>
        <p:txBody>
          <a:bodyPr wrap="square" lIns="0" tIns="0" rIns="0" bIns="0" rtlCol="0" anchor="ctr"/>
          <a:lstStyle/>
          <a:p>
            <a:pPr marL="0" indent="0" algn="ctr">
              <a:buNone/>
            </a:pPr>
            <a:r>
              <a:rPr lang="en-US" sz="1000" b="1" kern="0" spc="100" dirty="0">
                <a:solidFill>
                  <a:schemeClr val="accent3"/>
                </a:solidFill>
              </a:rPr>
              <a:t>EXAMPLE FROM PROTOTYPE DEMONSTRATION</a:t>
            </a:r>
            <a:endParaRPr lang="en-US" sz="1000" dirty="0"/>
          </a:p>
        </p:txBody>
      </p:sp>
      <p:sp>
        <p:nvSpPr>
          <p:cNvPr id="4" name="Shape 2"/>
          <p:cNvSpPr/>
          <p:nvPr/>
        </p:nvSpPr>
        <p:spPr>
          <a:xfrm>
            <a:off x="457200" y="1325880"/>
            <a:ext cx="3200400" cy="2331720"/>
          </a:xfrm>
          <a:prstGeom prst="roundRect">
            <a:avLst>
              <a:gd name="adj" fmla="val 4706"/>
            </a:avLst>
          </a:prstGeom>
          <a:solidFill>
            <a:schemeClr val="bg2"/>
          </a:solidFill>
          <a:ln w="9525">
            <a:solidFill>
              <a:schemeClr val="accent1">
                <a:alpha val="60000"/>
              </a:schemeClr>
            </a:solidFill>
            <a:prstDash val="solid"/>
          </a:ln>
        </p:spPr>
      </p:sp>
      <p:sp>
        <p:nvSpPr>
          <p:cNvPr id="5" name="Text 3"/>
          <p:cNvSpPr txBox="1"/>
          <p:nvPr/>
        </p:nvSpPr>
        <p:spPr>
          <a:xfrm>
            <a:off x="685800" y="1463040"/>
            <a:ext cx="18288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BEFORE</a:t>
            </a:r>
            <a:endParaRPr lang="en-US" sz="1100" dirty="0"/>
          </a:p>
        </p:txBody>
      </p:sp>
      <p:sp>
        <p:nvSpPr>
          <p:cNvPr id="6" name="Shape 4"/>
          <p:cNvSpPr/>
          <p:nvPr/>
        </p:nvSpPr>
        <p:spPr>
          <a:xfrm>
            <a:off x="640080" y="1783080"/>
            <a:ext cx="2834640" cy="777240"/>
          </a:xfrm>
          <a:prstGeom prst="roundRect">
            <a:avLst>
              <a:gd name="adj" fmla="val 9412"/>
            </a:avLst>
          </a:prstGeom>
          <a:solidFill>
            <a:schemeClr val="bg1">
              <a:alpha val="70000"/>
            </a:schemeClr>
          </a:solidFill>
          <a:ln w="9525">
            <a:solidFill>
              <a:schemeClr val="accent1">
                <a:alpha val="50000"/>
              </a:schemeClr>
            </a:solidFill>
            <a:prstDash val="solid"/>
          </a:ln>
        </p:spPr>
      </p:sp>
      <p:sp>
        <p:nvSpPr>
          <p:cNvPr id="7" name="Text 5"/>
          <p:cNvSpPr txBox="1"/>
          <p:nvPr/>
        </p:nvSpPr>
        <p:spPr>
          <a:xfrm>
            <a:off x="777240" y="1847088"/>
            <a:ext cx="2560320" cy="274320"/>
          </a:xfrm>
          <a:prstGeom prst="rect">
            <a:avLst/>
          </a:prstGeom>
          <a:noFill/>
          <a:ln/>
        </p:spPr>
        <p:txBody>
          <a:bodyPr wrap="square" lIns="0" tIns="0" rIns="0" bIns="0" rtlCol="0" anchor="ctr"/>
          <a:lstStyle/>
          <a:p>
            <a:pPr marL="0" indent="0">
              <a:buNone/>
            </a:pPr>
            <a:r>
              <a:rPr lang="en-US" sz="1400" b="1" dirty="0">
                <a:solidFill>
                  <a:schemeClr val="tx1"/>
                </a:solidFill>
              </a:rPr>
              <a:t>Data Structures Assignment</a:t>
            </a:r>
            <a:endParaRPr lang="en-US" sz="1400" dirty="0"/>
          </a:p>
        </p:txBody>
      </p:sp>
      <p:sp>
        <p:nvSpPr>
          <p:cNvPr id="8" name="Text 6"/>
          <p:cNvSpPr txBox="1"/>
          <p:nvPr/>
        </p:nvSpPr>
        <p:spPr>
          <a:xfrm>
            <a:off x="777240" y="2157984"/>
            <a:ext cx="2560320" cy="320040"/>
          </a:xfrm>
          <a:prstGeom prst="rect">
            <a:avLst/>
          </a:prstGeom>
          <a:noFill/>
          <a:ln/>
        </p:spPr>
        <p:txBody>
          <a:bodyPr wrap="square" lIns="0" tIns="0" rIns="0" bIns="0" rtlCol="0" anchor="ctr"/>
          <a:lstStyle/>
          <a:p>
            <a:pPr marL="0" indent="0">
              <a:buNone/>
            </a:pPr>
            <a:r>
              <a:rPr lang="en-US" sz="2000" b="1" dirty="0">
                <a:solidFill>
                  <a:schemeClr val="accent1"/>
                </a:solidFill>
              </a:rPr>
              <a:t>1:00 - 1:30 PM</a:t>
            </a:r>
            <a:endParaRPr lang="en-US" sz="2000" dirty="0"/>
          </a:p>
        </p:txBody>
      </p:sp>
      <p:sp>
        <p:nvSpPr>
          <p:cNvPr id="9" name="Shape 7"/>
          <p:cNvSpPr/>
          <p:nvPr/>
        </p:nvSpPr>
        <p:spPr>
          <a:xfrm>
            <a:off x="640080" y="2834640"/>
            <a:ext cx="2834640" cy="274320"/>
          </a:xfrm>
          <a:prstGeom prst="roundRect">
            <a:avLst>
              <a:gd name="adj" fmla="val 16667"/>
            </a:avLst>
          </a:prstGeom>
          <a:solidFill>
            <a:schemeClr val="bg1">
              <a:alpha val="80000"/>
            </a:schemeClr>
          </a:solidFill>
          <a:ln w="6350">
            <a:solidFill>
              <a:schemeClr val="tx2">
                <a:alpha val="30000"/>
              </a:schemeClr>
            </a:solidFill>
            <a:prstDash val="solid"/>
          </a:ln>
        </p:spPr>
      </p:sp>
      <p:sp>
        <p:nvSpPr>
          <p:cNvPr id="10" name="Shape 8"/>
          <p:cNvSpPr/>
          <p:nvPr/>
        </p:nvSpPr>
        <p:spPr>
          <a:xfrm>
            <a:off x="1348740" y="2862072"/>
            <a:ext cx="177165" cy="219456"/>
          </a:xfrm>
          <a:prstGeom prst="roundRect">
            <a:avLst>
              <a:gd name="adj" fmla="val 15484"/>
            </a:avLst>
          </a:prstGeom>
          <a:solidFill>
            <a:schemeClr val="accent1"/>
          </a:solidFill>
          <a:ln/>
        </p:spPr>
      </p:sp>
      <p:sp>
        <p:nvSpPr>
          <p:cNvPr id="11" name="Text 9"/>
          <p:cNvSpPr txBox="1"/>
          <p:nvPr/>
        </p:nvSpPr>
        <p:spPr>
          <a:xfrm>
            <a:off x="640080" y="3145536"/>
            <a:ext cx="548640" cy="201168"/>
          </a:xfrm>
          <a:prstGeom prst="rect">
            <a:avLst/>
          </a:prstGeom>
          <a:noFill/>
          <a:ln/>
        </p:spPr>
        <p:txBody>
          <a:bodyPr wrap="square" lIns="0" tIns="0" rIns="0" bIns="0" rtlCol="0" anchor="ctr"/>
          <a:lstStyle/>
          <a:p>
            <a:pPr marL="0" indent="0" algn="l">
              <a:buNone/>
            </a:pPr>
            <a:r>
              <a:rPr lang="en-US" sz="1000" dirty="0">
                <a:solidFill>
                  <a:schemeClr val="tx2"/>
                </a:solidFill>
              </a:rPr>
              <a:t>11 AM</a:t>
            </a:r>
            <a:endParaRPr lang="en-US" sz="1000" dirty="0"/>
          </a:p>
        </p:txBody>
      </p:sp>
      <p:sp>
        <p:nvSpPr>
          <p:cNvPr id="12" name="Text 10"/>
          <p:cNvSpPr txBox="1"/>
          <p:nvPr/>
        </p:nvSpPr>
        <p:spPr>
          <a:xfrm>
            <a:off x="1783080" y="3145536"/>
            <a:ext cx="548640" cy="201168"/>
          </a:xfrm>
          <a:prstGeom prst="rect">
            <a:avLst/>
          </a:prstGeom>
          <a:noFill/>
          <a:ln/>
        </p:spPr>
        <p:txBody>
          <a:bodyPr wrap="square" lIns="0" tIns="0" rIns="0" bIns="0" rtlCol="0" anchor="ctr"/>
          <a:lstStyle/>
          <a:p>
            <a:pPr marL="0" indent="0" algn="ctr">
              <a:buNone/>
            </a:pPr>
            <a:r>
              <a:rPr lang="en-US" sz="1000" dirty="0">
                <a:solidFill>
                  <a:schemeClr val="tx2"/>
                </a:solidFill>
              </a:rPr>
              <a:t>3 PM</a:t>
            </a:r>
            <a:endParaRPr lang="en-US" sz="1000" dirty="0"/>
          </a:p>
        </p:txBody>
      </p:sp>
      <p:sp>
        <p:nvSpPr>
          <p:cNvPr id="13" name="Text 11"/>
          <p:cNvSpPr txBox="1"/>
          <p:nvPr/>
        </p:nvSpPr>
        <p:spPr>
          <a:xfrm>
            <a:off x="2926080" y="3145536"/>
            <a:ext cx="548640" cy="201168"/>
          </a:xfrm>
          <a:prstGeom prst="rect">
            <a:avLst/>
          </a:prstGeom>
          <a:noFill/>
          <a:ln/>
        </p:spPr>
        <p:txBody>
          <a:bodyPr wrap="square" lIns="0" tIns="0" rIns="0" bIns="0" rtlCol="0" anchor="ctr"/>
          <a:lstStyle/>
          <a:p>
            <a:pPr marL="0" indent="0" algn="r">
              <a:buNone/>
            </a:pPr>
            <a:r>
              <a:rPr lang="en-US" sz="1000" dirty="0">
                <a:solidFill>
                  <a:schemeClr val="tx2"/>
                </a:solidFill>
              </a:rPr>
              <a:t>7 PM</a:t>
            </a:r>
            <a:endParaRPr lang="en-US" sz="1000" dirty="0"/>
          </a:p>
        </p:txBody>
      </p:sp>
      <p:sp>
        <p:nvSpPr>
          <p:cNvPr id="14" name="Shape 12"/>
          <p:cNvSpPr/>
          <p:nvPr/>
        </p:nvSpPr>
        <p:spPr>
          <a:xfrm>
            <a:off x="5486400" y="1325880"/>
            <a:ext cx="3200400" cy="2331720"/>
          </a:xfrm>
          <a:prstGeom prst="roundRect">
            <a:avLst>
              <a:gd name="adj" fmla="val 4706"/>
            </a:avLst>
          </a:prstGeom>
          <a:solidFill>
            <a:schemeClr val="bg2"/>
          </a:solidFill>
          <a:ln w="9525">
            <a:solidFill>
              <a:schemeClr val="accent3">
                <a:alpha val="60000"/>
              </a:schemeClr>
            </a:solidFill>
            <a:prstDash val="solid"/>
          </a:ln>
        </p:spPr>
      </p:sp>
      <p:sp>
        <p:nvSpPr>
          <p:cNvPr id="15" name="Text 13"/>
          <p:cNvSpPr txBox="1"/>
          <p:nvPr/>
        </p:nvSpPr>
        <p:spPr>
          <a:xfrm>
            <a:off x="5715000" y="1463040"/>
            <a:ext cx="1828800" cy="228600"/>
          </a:xfrm>
          <a:prstGeom prst="rect">
            <a:avLst/>
          </a:prstGeom>
          <a:noFill/>
          <a:ln/>
        </p:spPr>
        <p:txBody>
          <a:bodyPr wrap="square" lIns="0" tIns="0" rIns="0" bIns="0" rtlCol="0" anchor="ctr"/>
          <a:lstStyle/>
          <a:p>
            <a:pPr marL="0" indent="0">
              <a:buNone/>
            </a:pPr>
            <a:r>
              <a:rPr lang="en-US" sz="1100" b="1" kern="0" spc="200" dirty="0">
                <a:solidFill>
                  <a:schemeClr val="accent3"/>
                </a:solidFill>
              </a:rPr>
              <a:t>AFTER</a:t>
            </a:r>
            <a:endParaRPr lang="en-US" sz="1100" dirty="0"/>
          </a:p>
        </p:txBody>
      </p:sp>
      <p:sp>
        <p:nvSpPr>
          <p:cNvPr id="16" name="Shape 14"/>
          <p:cNvSpPr/>
          <p:nvPr/>
        </p:nvSpPr>
        <p:spPr>
          <a:xfrm>
            <a:off x="5669280" y="1783080"/>
            <a:ext cx="2834640" cy="777240"/>
          </a:xfrm>
          <a:prstGeom prst="roundRect">
            <a:avLst>
              <a:gd name="adj" fmla="val 9412"/>
            </a:avLst>
          </a:prstGeom>
          <a:solidFill>
            <a:schemeClr val="bg1">
              <a:alpha val="70000"/>
            </a:schemeClr>
          </a:solidFill>
          <a:ln w="9525">
            <a:solidFill>
              <a:schemeClr val="accent3">
                <a:alpha val="50000"/>
              </a:schemeClr>
            </a:solidFill>
            <a:prstDash val="solid"/>
          </a:ln>
        </p:spPr>
      </p:sp>
      <p:sp>
        <p:nvSpPr>
          <p:cNvPr id="17" name="Text 15"/>
          <p:cNvSpPr txBox="1"/>
          <p:nvPr/>
        </p:nvSpPr>
        <p:spPr>
          <a:xfrm>
            <a:off x="5806440" y="1847088"/>
            <a:ext cx="2560320" cy="274320"/>
          </a:xfrm>
          <a:prstGeom prst="rect">
            <a:avLst/>
          </a:prstGeom>
          <a:noFill/>
          <a:ln/>
        </p:spPr>
        <p:txBody>
          <a:bodyPr wrap="square" lIns="0" tIns="0" rIns="0" bIns="0" rtlCol="0" anchor="ctr"/>
          <a:lstStyle/>
          <a:p>
            <a:pPr marL="0" indent="0">
              <a:buNone/>
            </a:pPr>
            <a:r>
              <a:rPr lang="en-US" sz="1400" b="1" dirty="0">
                <a:solidFill>
                  <a:schemeClr val="tx1"/>
                </a:solidFill>
              </a:rPr>
              <a:t>Data Structures Assignment</a:t>
            </a:r>
            <a:endParaRPr lang="en-US" sz="1400" dirty="0"/>
          </a:p>
        </p:txBody>
      </p:sp>
      <p:sp>
        <p:nvSpPr>
          <p:cNvPr id="18" name="Text 16"/>
          <p:cNvSpPr txBox="1"/>
          <p:nvPr/>
        </p:nvSpPr>
        <p:spPr>
          <a:xfrm>
            <a:off x="5806440" y="2157984"/>
            <a:ext cx="2560320" cy="320040"/>
          </a:xfrm>
          <a:prstGeom prst="rect">
            <a:avLst/>
          </a:prstGeom>
          <a:noFill/>
          <a:ln/>
        </p:spPr>
        <p:txBody>
          <a:bodyPr wrap="square" lIns="0" tIns="0" rIns="0" bIns="0" rtlCol="0" anchor="ctr"/>
          <a:lstStyle/>
          <a:p>
            <a:pPr marL="0" indent="0">
              <a:buNone/>
            </a:pPr>
            <a:r>
              <a:rPr lang="en-US" sz="2000" b="1" dirty="0">
                <a:solidFill>
                  <a:schemeClr val="accent3"/>
                </a:solidFill>
              </a:rPr>
              <a:t>5:00 - 5:30 PM</a:t>
            </a:r>
            <a:endParaRPr lang="en-US" sz="2000" dirty="0"/>
          </a:p>
        </p:txBody>
      </p:sp>
      <p:sp>
        <p:nvSpPr>
          <p:cNvPr id="19" name="Shape 17"/>
          <p:cNvSpPr/>
          <p:nvPr/>
        </p:nvSpPr>
        <p:spPr>
          <a:xfrm>
            <a:off x="5669280" y="2834640"/>
            <a:ext cx="2834640" cy="274320"/>
          </a:xfrm>
          <a:prstGeom prst="roundRect">
            <a:avLst>
              <a:gd name="adj" fmla="val 16667"/>
            </a:avLst>
          </a:prstGeom>
          <a:solidFill>
            <a:schemeClr val="bg1">
              <a:alpha val="80000"/>
            </a:schemeClr>
          </a:solidFill>
          <a:ln w="6350">
            <a:solidFill>
              <a:schemeClr val="tx2">
                <a:alpha val="30000"/>
              </a:schemeClr>
            </a:solidFill>
            <a:prstDash val="solid"/>
          </a:ln>
        </p:spPr>
      </p:sp>
      <p:sp>
        <p:nvSpPr>
          <p:cNvPr id="20" name="Shape 18"/>
          <p:cNvSpPr/>
          <p:nvPr/>
        </p:nvSpPr>
        <p:spPr>
          <a:xfrm>
            <a:off x="6377940" y="2834640"/>
            <a:ext cx="1417320" cy="274320"/>
          </a:xfrm>
          <a:prstGeom prst="rect">
            <a:avLst/>
          </a:prstGeom>
          <a:solidFill>
            <a:schemeClr val="accent6">
              <a:alpha val="40000"/>
            </a:schemeClr>
          </a:solidFill>
          <a:ln w="12700">
            <a:solidFill>
              <a:schemeClr val="accent6"/>
            </a:solidFill>
            <a:prstDash val="dash"/>
          </a:ln>
        </p:spPr>
      </p:sp>
      <p:sp>
        <p:nvSpPr>
          <p:cNvPr id="21" name="Shape 19"/>
          <p:cNvSpPr/>
          <p:nvPr/>
        </p:nvSpPr>
        <p:spPr>
          <a:xfrm>
            <a:off x="7795260" y="2862072"/>
            <a:ext cx="177165" cy="219456"/>
          </a:xfrm>
          <a:prstGeom prst="roundRect">
            <a:avLst>
              <a:gd name="adj" fmla="val 15484"/>
            </a:avLst>
          </a:prstGeom>
          <a:solidFill>
            <a:schemeClr val="accent3"/>
          </a:solidFill>
          <a:ln/>
        </p:spPr>
      </p:sp>
      <p:sp>
        <p:nvSpPr>
          <p:cNvPr id="22" name="Text 20"/>
          <p:cNvSpPr txBox="1"/>
          <p:nvPr/>
        </p:nvSpPr>
        <p:spPr>
          <a:xfrm>
            <a:off x="5669280" y="3145536"/>
            <a:ext cx="548640" cy="201168"/>
          </a:xfrm>
          <a:prstGeom prst="rect">
            <a:avLst/>
          </a:prstGeom>
          <a:noFill/>
          <a:ln/>
        </p:spPr>
        <p:txBody>
          <a:bodyPr wrap="square" lIns="0" tIns="0" rIns="0" bIns="0" rtlCol="0" anchor="ctr"/>
          <a:lstStyle/>
          <a:p>
            <a:pPr marL="0" indent="0" algn="l">
              <a:buNone/>
            </a:pPr>
            <a:r>
              <a:rPr lang="en-US" sz="1000" dirty="0">
                <a:solidFill>
                  <a:schemeClr val="tx2"/>
                </a:solidFill>
              </a:rPr>
              <a:t>11 AM</a:t>
            </a:r>
            <a:endParaRPr lang="en-US" sz="1000" dirty="0"/>
          </a:p>
        </p:txBody>
      </p:sp>
      <p:sp>
        <p:nvSpPr>
          <p:cNvPr id="23" name="Text 21"/>
          <p:cNvSpPr txBox="1"/>
          <p:nvPr/>
        </p:nvSpPr>
        <p:spPr>
          <a:xfrm>
            <a:off x="6812280" y="3145536"/>
            <a:ext cx="548640" cy="201168"/>
          </a:xfrm>
          <a:prstGeom prst="rect">
            <a:avLst/>
          </a:prstGeom>
          <a:noFill/>
          <a:ln/>
        </p:spPr>
        <p:txBody>
          <a:bodyPr wrap="square" lIns="0" tIns="0" rIns="0" bIns="0" rtlCol="0" anchor="ctr"/>
          <a:lstStyle/>
          <a:p>
            <a:pPr marL="0" indent="0" algn="ctr">
              <a:buNone/>
            </a:pPr>
            <a:r>
              <a:rPr lang="en-US" sz="1000" dirty="0">
                <a:solidFill>
                  <a:schemeClr val="tx2"/>
                </a:solidFill>
              </a:rPr>
              <a:t>3 PM</a:t>
            </a:r>
            <a:endParaRPr lang="en-US" sz="1000" dirty="0"/>
          </a:p>
        </p:txBody>
      </p:sp>
      <p:sp>
        <p:nvSpPr>
          <p:cNvPr id="24" name="Text 22"/>
          <p:cNvSpPr txBox="1"/>
          <p:nvPr/>
        </p:nvSpPr>
        <p:spPr>
          <a:xfrm>
            <a:off x="7955280" y="3145536"/>
            <a:ext cx="548640" cy="201168"/>
          </a:xfrm>
          <a:prstGeom prst="rect">
            <a:avLst/>
          </a:prstGeom>
          <a:noFill/>
          <a:ln/>
        </p:spPr>
        <p:txBody>
          <a:bodyPr wrap="square" lIns="0" tIns="0" rIns="0" bIns="0" rtlCol="0" anchor="ctr"/>
          <a:lstStyle/>
          <a:p>
            <a:pPr marL="0" indent="0" algn="r">
              <a:buNone/>
            </a:pPr>
            <a:r>
              <a:rPr lang="en-US" sz="1000" dirty="0">
                <a:solidFill>
                  <a:schemeClr val="tx2"/>
                </a:solidFill>
              </a:rPr>
              <a:t>7 PM</a:t>
            </a:r>
            <a:endParaRPr lang="en-US" sz="1000" dirty="0"/>
          </a:p>
        </p:txBody>
      </p:sp>
      <p:sp>
        <p:nvSpPr>
          <p:cNvPr id="25" name="Shape 23"/>
          <p:cNvSpPr/>
          <p:nvPr/>
        </p:nvSpPr>
        <p:spPr>
          <a:xfrm>
            <a:off x="3794760" y="1737360"/>
            <a:ext cx="1554480" cy="1371600"/>
          </a:xfrm>
          <a:prstGeom prst="roundRect">
            <a:avLst>
              <a:gd name="adj" fmla="val 8000"/>
            </a:avLst>
          </a:prstGeom>
          <a:solidFill>
            <a:schemeClr val="bg2"/>
          </a:solidFill>
          <a:ln w="9525">
            <a:solidFill>
              <a:schemeClr val="accent6">
                <a:alpha val="70000"/>
              </a:schemeClr>
            </a:solidFill>
            <a:prstDash val="solid"/>
          </a:ln>
        </p:spPr>
      </p:sp>
      <p:pic>
        <p:nvPicPr>
          <p:cNvPr id="26" name="Image 0" descr="preencoded.png"/>
          <p:cNvPicPr>
            <a:picLocks noChangeAspect="1"/>
          </p:cNvPicPr>
          <p:nvPr/>
        </p:nvPicPr>
        <p:blipFill>
          <a:blip r:embed="rId3"/>
          <a:stretch>
            <a:fillRect/>
          </a:stretch>
        </p:blipFill>
        <p:spPr>
          <a:xfrm>
            <a:off x="4434840" y="1828800"/>
            <a:ext cx="274320" cy="274320"/>
          </a:xfrm>
          <a:prstGeom prst="rect">
            <a:avLst/>
          </a:prstGeom>
        </p:spPr>
      </p:pic>
      <p:sp>
        <p:nvSpPr>
          <p:cNvPr id="27" name="Text 24"/>
          <p:cNvSpPr txBox="1"/>
          <p:nvPr/>
        </p:nvSpPr>
        <p:spPr>
          <a:xfrm>
            <a:off x="3840480" y="2148840"/>
            <a:ext cx="1463040" cy="201168"/>
          </a:xfrm>
          <a:prstGeom prst="rect">
            <a:avLst/>
          </a:prstGeom>
          <a:noFill/>
          <a:ln/>
        </p:spPr>
        <p:txBody>
          <a:bodyPr wrap="square" lIns="0" tIns="0" rIns="0" bIns="0" rtlCol="0" anchor="ctr"/>
          <a:lstStyle/>
          <a:p>
            <a:pPr marL="0" indent="0" algn="ctr">
              <a:buNone/>
            </a:pPr>
            <a:r>
              <a:rPr lang="en-US" sz="1000" b="1" kern="0" spc="100" dirty="0">
                <a:solidFill>
                  <a:schemeClr val="accent6"/>
                </a:solidFill>
              </a:rPr>
              <a:t>DISRUPTION</a:t>
            </a:r>
            <a:endParaRPr lang="en-US" sz="1000" dirty="0"/>
          </a:p>
        </p:txBody>
      </p:sp>
      <p:sp>
        <p:nvSpPr>
          <p:cNvPr id="28" name="Text 25"/>
          <p:cNvSpPr txBox="1"/>
          <p:nvPr/>
        </p:nvSpPr>
        <p:spPr>
          <a:xfrm>
            <a:off x="3904488" y="2377440"/>
            <a:ext cx="1335024" cy="640080"/>
          </a:xfrm>
          <a:prstGeom prst="rect">
            <a:avLst/>
          </a:prstGeom>
          <a:noFill/>
          <a:ln/>
        </p:spPr>
        <p:txBody>
          <a:bodyPr wrap="square" lIns="0" tIns="0" rIns="0" bIns="0" rtlCol="0" anchor="t"/>
          <a:lstStyle/>
          <a:p>
            <a:pPr marL="0" indent="0" algn="ctr">
              <a:buNone/>
            </a:pPr>
            <a:r>
              <a:rPr lang="en-US" sz="1200" dirty="0">
                <a:solidFill>
                  <a:schemeClr val="tx1"/>
                </a:solidFill>
              </a:rPr>
              <a:t>Student unavailable for four hours</a:t>
            </a:r>
            <a:endParaRPr lang="en-US" sz="1200" dirty="0"/>
          </a:p>
        </p:txBody>
      </p:sp>
      <p:sp>
        <p:nvSpPr>
          <p:cNvPr id="29" name="Shape 26"/>
          <p:cNvSpPr/>
          <p:nvPr/>
        </p:nvSpPr>
        <p:spPr>
          <a:xfrm>
            <a:off x="3657600" y="2423160"/>
            <a:ext cx="137160" cy="0"/>
          </a:xfrm>
          <a:prstGeom prst="line">
            <a:avLst/>
          </a:prstGeom>
          <a:noFill/>
          <a:ln w="19050">
            <a:solidFill>
              <a:schemeClr val="accent6"/>
            </a:solidFill>
            <a:prstDash val="solid"/>
          </a:ln>
        </p:spPr>
      </p:sp>
      <p:sp>
        <p:nvSpPr>
          <p:cNvPr id="30" name="Shape 27"/>
          <p:cNvSpPr/>
          <p:nvPr/>
        </p:nvSpPr>
        <p:spPr>
          <a:xfrm>
            <a:off x="5349240" y="2423160"/>
            <a:ext cx="137160" cy="0"/>
          </a:xfrm>
          <a:prstGeom prst="line">
            <a:avLst/>
          </a:prstGeom>
          <a:noFill/>
          <a:ln w="19050">
            <a:solidFill>
              <a:schemeClr val="accent6"/>
            </a:solidFill>
            <a:prstDash val="solid"/>
          </a:ln>
        </p:spPr>
      </p:sp>
      <p:sp>
        <p:nvSpPr>
          <p:cNvPr id="31" name="Shape 28"/>
          <p:cNvSpPr/>
          <p:nvPr/>
        </p:nvSpPr>
        <p:spPr>
          <a:xfrm>
            <a:off x="457200" y="3886200"/>
            <a:ext cx="2560320" cy="640080"/>
          </a:xfrm>
          <a:prstGeom prst="roundRect">
            <a:avLst>
              <a:gd name="adj" fmla="val 17143"/>
            </a:avLst>
          </a:prstGeom>
          <a:solidFill>
            <a:schemeClr val="bg2"/>
          </a:solidFill>
          <a:ln w="9525">
            <a:solidFill>
              <a:schemeClr val="accent2">
                <a:alpha val="45000"/>
              </a:schemeClr>
            </a:solidFill>
            <a:prstDash val="solid"/>
          </a:ln>
        </p:spPr>
      </p:sp>
      <p:pic>
        <p:nvPicPr>
          <p:cNvPr id="32" name="Image 1" descr="preencoded.png"/>
          <p:cNvPicPr>
            <a:picLocks noChangeAspect="1"/>
          </p:cNvPicPr>
          <p:nvPr/>
        </p:nvPicPr>
        <p:blipFill>
          <a:blip r:embed="rId4"/>
          <a:stretch>
            <a:fillRect/>
          </a:stretch>
        </p:blipFill>
        <p:spPr>
          <a:xfrm>
            <a:off x="640080" y="4069080"/>
            <a:ext cx="274320" cy="274320"/>
          </a:xfrm>
          <a:prstGeom prst="rect">
            <a:avLst/>
          </a:prstGeom>
        </p:spPr>
      </p:pic>
      <p:sp>
        <p:nvSpPr>
          <p:cNvPr id="33" name="Text 29"/>
          <p:cNvSpPr txBox="1"/>
          <p:nvPr/>
        </p:nvSpPr>
        <p:spPr>
          <a:xfrm>
            <a:off x="1051560" y="3886200"/>
            <a:ext cx="1874520" cy="640080"/>
          </a:xfrm>
          <a:prstGeom prst="rect">
            <a:avLst/>
          </a:prstGeom>
          <a:noFill/>
          <a:ln/>
        </p:spPr>
        <p:txBody>
          <a:bodyPr wrap="square" lIns="0" tIns="0" rIns="0" bIns="0" rtlCol="0" anchor="ctr"/>
          <a:lstStyle/>
          <a:p>
            <a:pPr marL="0" indent="0">
              <a:buNone/>
            </a:pPr>
            <a:r>
              <a:rPr lang="en-US" sz="1300" b="1" dirty="0">
                <a:solidFill>
                  <a:schemeClr val="tx1"/>
                </a:solidFill>
              </a:rPr>
              <a:t>Previews changes first</a:t>
            </a:r>
            <a:endParaRPr lang="en-US" sz="1300" dirty="0"/>
          </a:p>
        </p:txBody>
      </p:sp>
      <p:sp>
        <p:nvSpPr>
          <p:cNvPr id="34" name="Shape 30"/>
          <p:cNvSpPr/>
          <p:nvPr/>
        </p:nvSpPr>
        <p:spPr>
          <a:xfrm>
            <a:off x="3291840" y="3886200"/>
            <a:ext cx="2560320" cy="640080"/>
          </a:xfrm>
          <a:prstGeom prst="roundRect">
            <a:avLst>
              <a:gd name="adj" fmla="val 17143"/>
            </a:avLst>
          </a:prstGeom>
          <a:solidFill>
            <a:schemeClr val="bg2"/>
          </a:solidFill>
          <a:ln w="9525">
            <a:solidFill>
              <a:schemeClr val="accent2">
                <a:alpha val="45000"/>
              </a:schemeClr>
            </a:solidFill>
            <a:prstDash val="solid"/>
          </a:ln>
        </p:spPr>
      </p:sp>
      <p:pic>
        <p:nvPicPr>
          <p:cNvPr id="35" name="Image 2" descr="preencoded.png"/>
          <p:cNvPicPr>
            <a:picLocks noChangeAspect="1"/>
          </p:cNvPicPr>
          <p:nvPr/>
        </p:nvPicPr>
        <p:blipFill>
          <a:blip r:embed="rId5"/>
          <a:stretch>
            <a:fillRect/>
          </a:stretch>
        </p:blipFill>
        <p:spPr>
          <a:xfrm>
            <a:off x="3474720" y="4069080"/>
            <a:ext cx="274320" cy="274320"/>
          </a:xfrm>
          <a:prstGeom prst="rect">
            <a:avLst/>
          </a:prstGeom>
        </p:spPr>
      </p:pic>
      <p:sp>
        <p:nvSpPr>
          <p:cNvPr id="36" name="Text 31"/>
          <p:cNvSpPr txBox="1"/>
          <p:nvPr/>
        </p:nvSpPr>
        <p:spPr>
          <a:xfrm>
            <a:off x="3886200" y="3886200"/>
            <a:ext cx="1874520" cy="640080"/>
          </a:xfrm>
          <a:prstGeom prst="rect">
            <a:avLst/>
          </a:prstGeom>
          <a:noFill/>
          <a:ln/>
        </p:spPr>
        <p:txBody>
          <a:bodyPr wrap="square" lIns="0" tIns="0" rIns="0" bIns="0" rtlCol="0" anchor="ctr"/>
          <a:lstStyle/>
          <a:p>
            <a:pPr marL="0" indent="0">
              <a:buNone/>
            </a:pPr>
            <a:r>
              <a:rPr lang="en-US" sz="1300" b="1" dirty="0">
                <a:solidFill>
                  <a:schemeClr val="tx1"/>
                </a:solidFill>
              </a:rPr>
              <a:t>Reschedules flexible work</a:t>
            </a:r>
            <a:endParaRPr lang="en-US" sz="1300" dirty="0"/>
          </a:p>
        </p:txBody>
      </p:sp>
      <p:sp>
        <p:nvSpPr>
          <p:cNvPr id="37" name="Shape 32"/>
          <p:cNvSpPr/>
          <p:nvPr/>
        </p:nvSpPr>
        <p:spPr>
          <a:xfrm>
            <a:off x="6126480" y="3886200"/>
            <a:ext cx="2560320" cy="640080"/>
          </a:xfrm>
          <a:prstGeom prst="roundRect">
            <a:avLst>
              <a:gd name="adj" fmla="val 17143"/>
            </a:avLst>
          </a:prstGeom>
          <a:solidFill>
            <a:schemeClr val="bg2"/>
          </a:solidFill>
          <a:ln w="9525">
            <a:solidFill>
              <a:schemeClr val="accent2">
                <a:alpha val="45000"/>
              </a:schemeClr>
            </a:solidFill>
            <a:prstDash val="solid"/>
          </a:ln>
        </p:spPr>
      </p:sp>
      <p:pic>
        <p:nvPicPr>
          <p:cNvPr id="38" name="Image 3" descr="preencoded.png"/>
          <p:cNvPicPr>
            <a:picLocks noChangeAspect="1"/>
          </p:cNvPicPr>
          <p:nvPr/>
        </p:nvPicPr>
        <p:blipFill>
          <a:blip r:embed="rId6"/>
          <a:stretch>
            <a:fillRect/>
          </a:stretch>
        </p:blipFill>
        <p:spPr>
          <a:xfrm>
            <a:off x="6309360" y="4069080"/>
            <a:ext cx="274320" cy="274320"/>
          </a:xfrm>
          <a:prstGeom prst="rect">
            <a:avLst/>
          </a:prstGeom>
        </p:spPr>
      </p:pic>
      <p:sp>
        <p:nvSpPr>
          <p:cNvPr id="39" name="Text 33"/>
          <p:cNvSpPr txBox="1"/>
          <p:nvPr/>
        </p:nvSpPr>
        <p:spPr>
          <a:xfrm>
            <a:off x="6720840" y="3886200"/>
            <a:ext cx="1874520" cy="640080"/>
          </a:xfrm>
          <a:prstGeom prst="rect">
            <a:avLst/>
          </a:prstGeom>
          <a:noFill/>
          <a:ln/>
        </p:spPr>
        <p:txBody>
          <a:bodyPr wrap="square" lIns="0" tIns="0" rIns="0" bIns="0" rtlCol="0" anchor="ctr"/>
          <a:lstStyle/>
          <a:p>
            <a:pPr marL="0" indent="0">
              <a:buNone/>
            </a:pPr>
            <a:r>
              <a:rPr lang="en-US" sz="1300" b="1" dirty="0">
                <a:solidFill>
                  <a:schemeClr val="tx1"/>
                </a:solidFill>
              </a:rPr>
              <a:t>Highlights deadline risks</a:t>
            </a:r>
            <a:endParaRPr lang="en-US" sz="1300" dirty="0"/>
          </a:p>
        </p:txBody>
      </p:sp>
      <p:sp>
        <p:nvSpPr>
          <p:cNvPr id="40"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7C7"/>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943600" y="1371600"/>
            <a:ext cx="4114800" cy="4114800"/>
          </a:xfrm>
          <a:prstGeom prst="ellipse">
            <a:avLst/>
          </a:prstGeom>
          <a:solidFill>
            <a:schemeClr val="accent1">
              <a:alpha val="9000"/>
            </a:schemeClr>
          </a:solidFill>
          <a:ln/>
        </p:spPr>
      </p:sp>
      <p:sp>
        <p:nvSpPr>
          <p:cNvPr id="3" name="Text 0"/>
          <p:cNvSpPr>
            <a:spLocks noGrp="1"/>
          </p:cNvSpPr>
          <p:nvPr>
            <p:ph type="title" idx="100" hasCustomPrompt="1"/>
          </p:nvPr>
        </p:nvSpPr>
        <p:spPr>
          <a:xfrm>
            <a:off x="457200" y="320040"/>
            <a:ext cx="8229600" cy="868680"/>
          </a:xfrm>
          <a:prstGeom prst="rect">
            <a:avLst/>
          </a:prstGeom>
          <a:noFill/>
          <a:ln/>
        </p:spPr>
        <p:txBody>
          <a:bodyPr wrap="square" lIns="0" tIns="0" rIns="0" bIns="0" rtlCol="0" anchor="t"/>
          <a:lstStyle/>
          <a:p>
            <a:pPr marL="0" indent="0" algn="l">
              <a:buNone/>
            </a:pPr>
            <a:r>
              <a:rPr lang="en-US" sz="2600" b="1" dirty="0">
                <a:solidFill>
                  <a:schemeClr val="tx1"/>
                </a:solidFill>
              </a:rPr>
              <a:t>Explainable Scheduling, Not a Black Box</a:t>
            </a:r>
            <a:endParaRPr lang="en-US" sz="2600" dirty="0"/>
          </a:p>
        </p:txBody>
      </p:sp>
      <p:sp>
        <p:nvSpPr>
          <p:cNvPr id="4" name="Shape 2"/>
          <p:cNvSpPr/>
          <p:nvPr/>
        </p:nvSpPr>
        <p:spPr>
          <a:xfrm>
            <a:off x="457200" y="1325880"/>
            <a:ext cx="5212080" cy="658368"/>
          </a:xfrm>
          <a:prstGeom prst="roundRect">
            <a:avLst>
              <a:gd name="adj" fmla="val 16667"/>
            </a:avLst>
          </a:prstGeom>
          <a:solidFill>
            <a:schemeClr val="bg2"/>
          </a:solidFill>
          <a:ln w="9525">
            <a:solidFill>
              <a:schemeClr val="accent1">
                <a:alpha val="60000"/>
              </a:schemeClr>
            </a:solidFill>
            <a:prstDash val="solid"/>
          </a:ln>
        </p:spPr>
      </p:sp>
      <p:pic>
        <p:nvPicPr>
          <p:cNvPr id="5" name="Image 0" descr="preencoded.png"/>
          <p:cNvPicPr>
            <a:picLocks noChangeAspect="1"/>
          </p:cNvPicPr>
          <p:nvPr/>
        </p:nvPicPr>
        <p:blipFill>
          <a:blip r:embed="rId3"/>
          <a:stretch>
            <a:fillRect/>
          </a:stretch>
        </p:blipFill>
        <p:spPr>
          <a:xfrm>
            <a:off x="685800" y="1508760"/>
            <a:ext cx="292608" cy="292608"/>
          </a:xfrm>
          <a:prstGeom prst="rect">
            <a:avLst/>
          </a:prstGeom>
        </p:spPr>
      </p:pic>
      <p:sp>
        <p:nvSpPr>
          <p:cNvPr id="6" name="Text 3"/>
          <p:cNvSpPr txBox="1"/>
          <p:nvPr/>
        </p:nvSpPr>
        <p:spPr>
          <a:xfrm>
            <a:off x="1188720" y="1371600"/>
            <a:ext cx="1828800" cy="201168"/>
          </a:xfrm>
          <a:prstGeom prst="rect">
            <a:avLst/>
          </a:prstGeom>
          <a:noFill/>
          <a:ln/>
        </p:spPr>
        <p:txBody>
          <a:bodyPr wrap="square" lIns="0" tIns="0" rIns="0" bIns="0" rtlCol="0" anchor="ctr"/>
          <a:lstStyle/>
          <a:p>
            <a:pPr marL="0" indent="0">
              <a:buNone/>
            </a:pPr>
            <a:r>
              <a:rPr lang="en-US" sz="1000" b="1" kern="0" spc="200" dirty="0">
                <a:solidFill>
                  <a:schemeClr val="accent3"/>
                </a:solidFill>
              </a:rPr>
              <a:t>INTERFACE</a:t>
            </a:r>
            <a:endParaRPr lang="en-US" sz="1000" dirty="0"/>
          </a:p>
        </p:txBody>
      </p:sp>
      <p:sp>
        <p:nvSpPr>
          <p:cNvPr id="7" name="Text 4"/>
          <p:cNvSpPr txBox="1"/>
          <p:nvPr/>
        </p:nvSpPr>
        <p:spPr>
          <a:xfrm>
            <a:off x="1188720" y="1572768"/>
            <a:ext cx="4114800" cy="347472"/>
          </a:xfrm>
          <a:prstGeom prst="rect">
            <a:avLst/>
          </a:prstGeom>
          <a:noFill/>
          <a:ln/>
        </p:spPr>
        <p:txBody>
          <a:bodyPr wrap="square" lIns="0" tIns="0" rIns="0" bIns="0" rtlCol="0" anchor="ctr"/>
          <a:lstStyle/>
          <a:p>
            <a:pPr marL="0" indent="0">
              <a:buNone/>
            </a:pPr>
            <a:r>
              <a:rPr lang="en-US" sz="1800" b="1" dirty="0">
                <a:solidFill>
                  <a:schemeClr val="tx1"/>
                </a:solidFill>
              </a:rPr>
              <a:t>HTML5 + CSS3</a:t>
            </a:r>
            <a:endParaRPr lang="en-US" sz="1800" dirty="0"/>
          </a:p>
        </p:txBody>
      </p:sp>
      <p:sp>
        <p:nvSpPr>
          <p:cNvPr id="8" name="Shape 5"/>
          <p:cNvSpPr/>
          <p:nvPr/>
        </p:nvSpPr>
        <p:spPr>
          <a:xfrm>
            <a:off x="3063240" y="1984248"/>
            <a:ext cx="0" cy="274320"/>
          </a:xfrm>
          <a:prstGeom prst="line">
            <a:avLst/>
          </a:prstGeom>
          <a:noFill/>
          <a:ln w="22225">
            <a:solidFill>
              <a:schemeClr val="tx2"/>
            </a:solidFill>
            <a:prstDash val="solid"/>
            <a:headEnd type="triangle"/>
            <a:tailEnd type="triangle"/>
          </a:ln>
        </p:spPr>
      </p:sp>
      <p:sp>
        <p:nvSpPr>
          <p:cNvPr id="9" name="Shape 6"/>
          <p:cNvSpPr/>
          <p:nvPr/>
        </p:nvSpPr>
        <p:spPr>
          <a:xfrm>
            <a:off x="457200" y="2258568"/>
            <a:ext cx="5212080" cy="1481328"/>
          </a:xfrm>
          <a:prstGeom prst="roundRect">
            <a:avLst>
              <a:gd name="adj" fmla="val 7407"/>
            </a:avLst>
          </a:prstGeom>
          <a:solidFill>
            <a:schemeClr val="bg2"/>
          </a:solidFill>
          <a:ln w="9525">
            <a:solidFill>
              <a:schemeClr val="accent2">
                <a:alpha val="70000"/>
              </a:schemeClr>
            </a:solidFill>
            <a:prstDash val="solid"/>
          </a:ln>
        </p:spPr>
      </p:sp>
      <p:pic>
        <p:nvPicPr>
          <p:cNvPr id="10" name="Image 1" descr="preencoded.png"/>
          <p:cNvPicPr>
            <a:picLocks noChangeAspect="1"/>
          </p:cNvPicPr>
          <p:nvPr/>
        </p:nvPicPr>
        <p:blipFill>
          <a:blip r:embed="rId4"/>
          <a:stretch>
            <a:fillRect/>
          </a:stretch>
        </p:blipFill>
        <p:spPr>
          <a:xfrm>
            <a:off x="685800" y="2423160"/>
            <a:ext cx="292608" cy="292608"/>
          </a:xfrm>
          <a:prstGeom prst="rect">
            <a:avLst/>
          </a:prstGeom>
        </p:spPr>
      </p:pic>
      <p:sp>
        <p:nvSpPr>
          <p:cNvPr id="11" name="Text 7"/>
          <p:cNvSpPr txBox="1"/>
          <p:nvPr/>
        </p:nvSpPr>
        <p:spPr>
          <a:xfrm>
            <a:off x="1188720" y="2331720"/>
            <a:ext cx="1828800" cy="201168"/>
          </a:xfrm>
          <a:prstGeom prst="rect">
            <a:avLst/>
          </a:prstGeom>
          <a:noFill/>
          <a:ln/>
        </p:spPr>
        <p:txBody>
          <a:bodyPr wrap="square" lIns="0" tIns="0" rIns="0" bIns="0" rtlCol="0" anchor="ctr"/>
          <a:lstStyle/>
          <a:p>
            <a:pPr marL="0" indent="0">
              <a:buNone/>
            </a:pPr>
            <a:r>
              <a:rPr lang="en-US" sz="1000" b="1" kern="0" spc="200" dirty="0">
                <a:solidFill>
                  <a:schemeClr val="accent3"/>
                </a:solidFill>
              </a:rPr>
              <a:t>LOGIC</a:t>
            </a:r>
            <a:endParaRPr lang="en-US" sz="1000" dirty="0"/>
          </a:p>
        </p:txBody>
      </p:sp>
      <p:sp>
        <p:nvSpPr>
          <p:cNvPr id="12" name="Text 8"/>
          <p:cNvSpPr txBox="1"/>
          <p:nvPr/>
        </p:nvSpPr>
        <p:spPr>
          <a:xfrm>
            <a:off x="1188720" y="2523744"/>
            <a:ext cx="4114800" cy="292608"/>
          </a:xfrm>
          <a:prstGeom prst="rect">
            <a:avLst/>
          </a:prstGeom>
          <a:noFill/>
          <a:ln/>
        </p:spPr>
        <p:txBody>
          <a:bodyPr wrap="square" lIns="0" tIns="0" rIns="0" bIns="0" rtlCol="0" anchor="ctr"/>
          <a:lstStyle/>
          <a:p>
            <a:pPr marL="0" indent="0">
              <a:buNone/>
            </a:pPr>
            <a:r>
              <a:rPr lang="en-US" sz="1800" b="1" dirty="0">
                <a:solidFill>
                  <a:schemeClr val="tx1"/>
                </a:solidFill>
              </a:rPr>
              <a:t>Vanilla JavaScript engine</a:t>
            </a:r>
            <a:endParaRPr lang="en-US" sz="1800" dirty="0"/>
          </a:p>
        </p:txBody>
      </p:sp>
      <p:sp>
        <p:nvSpPr>
          <p:cNvPr id="13" name="Text 9"/>
          <p:cNvSpPr txBox="1"/>
          <p:nvPr/>
        </p:nvSpPr>
        <p:spPr>
          <a:xfrm>
            <a:off x="640080" y="2971800"/>
            <a:ext cx="1554480" cy="640080"/>
          </a:xfrm>
          <a:prstGeom prst="roundRect">
            <a:avLst>
              <a:gd name="adj" fmla="val 11429"/>
            </a:avLst>
          </a:prstGeom>
          <a:solidFill>
            <a:schemeClr val="accent2">
              <a:alpha val="25000"/>
            </a:schemeClr>
          </a:solidFill>
          <a:ln w="12700">
            <a:solidFill>
              <a:schemeClr val="accent2">
                <a:alpha val="70000"/>
              </a:schemeClr>
            </a:solidFill>
          </a:ln>
        </p:spPr>
        <p:txBody>
          <a:bodyPr wrap="square" lIns="50800" tIns="50800" rIns="50800" bIns="50800" rtlCol="0" anchor="ctr"/>
          <a:lstStyle/>
          <a:p>
            <a:pPr marL="0" indent="0" algn="ctr">
              <a:buNone/>
            </a:pPr>
            <a:r>
              <a:rPr lang="en-US" sz="1200" b="1" dirty="0">
                <a:solidFill>
                  <a:schemeClr val="tx1"/>
                </a:solidFill>
              </a:rPr>
              <a:t>Constraint-aware scheduling</a:t>
            </a:r>
            <a:endParaRPr lang="en-US" sz="1200" dirty="0"/>
          </a:p>
        </p:txBody>
      </p:sp>
      <p:sp>
        <p:nvSpPr>
          <p:cNvPr id="14" name="Text 10"/>
          <p:cNvSpPr txBox="1"/>
          <p:nvPr/>
        </p:nvSpPr>
        <p:spPr>
          <a:xfrm>
            <a:off x="2286000" y="2971800"/>
            <a:ext cx="1554480" cy="640080"/>
          </a:xfrm>
          <a:prstGeom prst="roundRect">
            <a:avLst>
              <a:gd name="adj" fmla="val 11429"/>
            </a:avLst>
          </a:prstGeom>
          <a:solidFill>
            <a:schemeClr val="accent2">
              <a:alpha val="25000"/>
            </a:schemeClr>
          </a:solidFill>
          <a:ln w="12700">
            <a:solidFill>
              <a:schemeClr val="accent2">
                <a:alpha val="70000"/>
              </a:schemeClr>
            </a:solidFill>
          </a:ln>
        </p:spPr>
        <p:txBody>
          <a:bodyPr wrap="square" lIns="50800" tIns="50800" rIns="50800" bIns="50800" rtlCol="0" anchor="ctr"/>
          <a:lstStyle/>
          <a:p>
            <a:pPr marL="0" indent="0" algn="ctr">
              <a:buNone/>
            </a:pPr>
            <a:r>
              <a:rPr lang="en-US" sz="1200" b="1" dirty="0">
                <a:solidFill>
                  <a:schemeClr val="tx1"/>
                </a:solidFill>
              </a:rPr>
              <a:t>Deadline risk detection</a:t>
            </a:r>
            <a:endParaRPr lang="en-US" sz="1200" dirty="0"/>
          </a:p>
        </p:txBody>
      </p:sp>
      <p:sp>
        <p:nvSpPr>
          <p:cNvPr id="15" name="Text 11"/>
          <p:cNvSpPr txBox="1"/>
          <p:nvPr/>
        </p:nvSpPr>
        <p:spPr>
          <a:xfrm>
            <a:off x="3931920" y="2971800"/>
            <a:ext cx="1554480" cy="640080"/>
          </a:xfrm>
          <a:prstGeom prst="roundRect">
            <a:avLst>
              <a:gd name="adj" fmla="val 11429"/>
            </a:avLst>
          </a:prstGeom>
          <a:solidFill>
            <a:schemeClr val="accent2">
              <a:alpha val="25000"/>
            </a:schemeClr>
          </a:solidFill>
          <a:ln w="12700">
            <a:solidFill>
              <a:schemeClr val="accent2">
                <a:alpha val="70000"/>
              </a:schemeClr>
            </a:solidFill>
          </a:ln>
        </p:spPr>
        <p:txBody>
          <a:bodyPr wrap="square" lIns="50800" tIns="50800" rIns="50800" bIns="50800" rtlCol="0" anchor="ctr"/>
          <a:lstStyle/>
          <a:p>
            <a:pPr marL="0" indent="0" algn="ctr">
              <a:buNone/>
            </a:pPr>
            <a:r>
              <a:rPr lang="en-US" sz="1200" b="1" dirty="0">
                <a:solidFill>
                  <a:schemeClr val="tx1"/>
                </a:solidFill>
              </a:rPr>
              <a:t>Reversible recovery</a:t>
            </a:r>
            <a:endParaRPr lang="en-US" sz="1200" dirty="0"/>
          </a:p>
        </p:txBody>
      </p:sp>
      <p:sp>
        <p:nvSpPr>
          <p:cNvPr id="16" name="Shape 12"/>
          <p:cNvSpPr/>
          <p:nvPr/>
        </p:nvSpPr>
        <p:spPr>
          <a:xfrm>
            <a:off x="3063240" y="3739896"/>
            <a:ext cx="0" cy="274320"/>
          </a:xfrm>
          <a:prstGeom prst="line">
            <a:avLst/>
          </a:prstGeom>
          <a:noFill/>
          <a:ln w="22225">
            <a:solidFill>
              <a:schemeClr val="tx2"/>
            </a:solidFill>
            <a:prstDash val="solid"/>
            <a:headEnd type="triangle"/>
            <a:tailEnd type="triangle"/>
          </a:ln>
        </p:spPr>
      </p:sp>
      <p:sp>
        <p:nvSpPr>
          <p:cNvPr id="17" name="Shape 13"/>
          <p:cNvSpPr/>
          <p:nvPr/>
        </p:nvSpPr>
        <p:spPr>
          <a:xfrm>
            <a:off x="457200" y="4014216"/>
            <a:ext cx="5212080" cy="566928"/>
          </a:xfrm>
          <a:prstGeom prst="roundRect">
            <a:avLst>
              <a:gd name="adj" fmla="val 19355"/>
            </a:avLst>
          </a:prstGeom>
          <a:solidFill>
            <a:schemeClr val="bg2"/>
          </a:solidFill>
          <a:ln w="9525">
            <a:solidFill>
              <a:schemeClr val="accent3">
                <a:alpha val="60000"/>
              </a:schemeClr>
            </a:solidFill>
            <a:prstDash val="solid"/>
          </a:ln>
        </p:spPr>
      </p:sp>
      <p:pic>
        <p:nvPicPr>
          <p:cNvPr id="18" name="Image 2" descr="preencoded.png"/>
          <p:cNvPicPr>
            <a:picLocks noChangeAspect="1"/>
          </p:cNvPicPr>
          <p:nvPr/>
        </p:nvPicPr>
        <p:blipFill>
          <a:blip r:embed="rId5"/>
          <a:stretch>
            <a:fillRect/>
          </a:stretch>
        </p:blipFill>
        <p:spPr>
          <a:xfrm>
            <a:off x="685800" y="4151376"/>
            <a:ext cx="292608" cy="292608"/>
          </a:xfrm>
          <a:prstGeom prst="rect">
            <a:avLst/>
          </a:prstGeom>
        </p:spPr>
      </p:pic>
      <p:sp>
        <p:nvSpPr>
          <p:cNvPr id="19" name="Text 14"/>
          <p:cNvSpPr txBox="1"/>
          <p:nvPr/>
        </p:nvSpPr>
        <p:spPr>
          <a:xfrm>
            <a:off x="1188720" y="4014216"/>
            <a:ext cx="2377440" cy="566928"/>
          </a:xfrm>
          <a:prstGeom prst="rect">
            <a:avLst/>
          </a:prstGeom>
          <a:noFill/>
          <a:ln/>
        </p:spPr>
        <p:txBody>
          <a:bodyPr wrap="square" lIns="0" tIns="0" rIns="0" bIns="0" rtlCol="0" anchor="ctr"/>
          <a:lstStyle/>
          <a:p>
            <a:pPr marL="0" indent="0">
              <a:buNone/>
            </a:pPr>
            <a:r>
              <a:rPr lang="en-US" sz="1600" b="1" dirty="0">
                <a:solidFill>
                  <a:schemeClr val="tx1"/>
                </a:solidFill>
              </a:rPr>
              <a:t>Browser localStorage</a:t>
            </a:r>
            <a:endParaRPr lang="en-US" sz="1600" dirty="0"/>
          </a:p>
        </p:txBody>
      </p:sp>
      <p:sp>
        <p:nvSpPr>
          <p:cNvPr id="20" name="Text 15"/>
          <p:cNvSpPr txBox="1"/>
          <p:nvPr/>
        </p:nvSpPr>
        <p:spPr>
          <a:xfrm>
            <a:off x="3566160" y="4014216"/>
            <a:ext cx="1920240" cy="566928"/>
          </a:xfrm>
          <a:prstGeom prst="rect">
            <a:avLst/>
          </a:prstGeom>
          <a:noFill/>
          <a:ln/>
        </p:spPr>
        <p:txBody>
          <a:bodyPr wrap="square" lIns="0" tIns="0" rIns="0" bIns="0" rtlCol="0" anchor="ctr"/>
          <a:lstStyle/>
          <a:p>
            <a:pPr marL="0" indent="0" algn="r">
              <a:buNone/>
            </a:pPr>
            <a:r>
              <a:rPr lang="en-US" sz="1200" dirty="0">
                <a:solidFill>
                  <a:schemeClr val="tx2"/>
                </a:solidFill>
              </a:rPr>
              <a:t>Saved on the device</a:t>
            </a:r>
            <a:endParaRPr lang="en-US" sz="1200" dirty="0"/>
          </a:p>
        </p:txBody>
      </p:sp>
      <p:sp>
        <p:nvSpPr>
          <p:cNvPr id="21" name="Shape 16"/>
          <p:cNvSpPr/>
          <p:nvPr/>
        </p:nvSpPr>
        <p:spPr>
          <a:xfrm>
            <a:off x="5943600" y="1325880"/>
            <a:ext cx="2743200" cy="3255264"/>
          </a:xfrm>
          <a:prstGeom prst="roundRect">
            <a:avLst>
              <a:gd name="adj" fmla="val 4000"/>
            </a:avLst>
          </a:prstGeom>
          <a:solidFill>
            <a:schemeClr val="bg2"/>
          </a:solidFill>
          <a:ln w="9525">
            <a:solidFill>
              <a:schemeClr val="accent3">
                <a:alpha val="55000"/>
              </a:schemeClr>
            </a:solidFill>
            <a:prstDash val="solid"/>
          </a:ln>
        </p:spPr>
      </p:sp>
      <p:sp>
        <p:nvSpPr>
          <p:cNvPr id="22" name="Text 17"/>
          <p:cNvSpPr txBox="1"/>
          <p:nvPr/>
        </p:nvSpPr>
        <p:spPr>
          <a:xfrm>
            <a:off x="6172200" y="1463040"/>
            <a:ext cx="2377440" cy="320040"/>
          </a:xfrm>
          <a:prstGeom prst="rect">
            <a:avLst/>
          </a:prstGeom>
          <a:noFill/>
          <a:ln/>
        </p:spPr>
        <p:txBody>
          <a:bodyPr wrap="square" lIns="0" tIns="0" rIns="0" bIns="0" rtlCol="0" anchor="ctr"/>
          <a:lstStyle/>
          <a:p>
            <a:pPr marL="0" indent="0">
              <a:buNone/>
            </a:pPr>
            <a:r>
              <a:rPr lang="en-US" sz="1700" b="1" dirty="0">
                <a:solidFill>
                  <a:schemeClr val="accent3"/>
                </a:solidFill>
              </a:rPr>
              <a:t>Explainable by design</a:t>
            </a:r>
            <a:endParaRPr lang="en-US" sz="1700" dirty="0"/>
          </a:p>
        </p:txBody>
      </p:sp>
      <p:pic>
        <p:nvPicPr>
          <p:cNvPr id="23" name="Image 3" descr="preencoded.png"/>
          <p:cNvPicPr>
            <a:picLocks noChangeAspect="1"/>
          </p:cNvPicPr>
          <p:nvPr/>
        </p:nvPicPr>
        <p:blipFill>
          <a:blip r:embed="rId6"/>
          <a:stretch>
            <a:fillRect/>
          </a:stretch>
        </p:blipFill>
        <p:spPr>
          <a:xfrm>
            <a:off x="6172200" y="2029968"/>
            <a:ext cx="256032" cy="256032"/>
          </a:xfrm>
          <a:prstGeom prst="rect">
            <a:avLst/>
          </a:prstGeom>
        </p:spPr>
      </p:pic>
      <p:sp>
        <p:nvSpPr>
          <p:cNvPr id="24" name="Text 18"/>
          <p:cNvSpPr txBox="1"/>
          <p:nvPr/>
        </p:nvSpPr>
        <p:spPr>
          <a:xfrm>
            <a:off x="6583680" y="1965960"/>
            <a:ext cx="1965960" cy="384048"/>
          </a:xfrm>
          <a:prstGeom prst="rect">
            <a:avLst/>
          </a:prstGeom>
          <a:noFill/>
          <a:ln/>
        </p:spPr>
        <p:txBody>
          <a:bodyPr wrap="square" lIns="0" tIns="0" rIns="0" bIns="0" rtlCol="0" anchor="ctr"/>
          <a:lstStyle/>
          <a:p>
            <a:pPr marL="0" indent="0">
              <a:buNone/>
            </a:pPr>
            <a:r>
              <a:rPr lang="en-US" sz="1300" dirty="0">
                <a:solidFill>
                  <a:schemeClr val="tx1"/>
                </a:solidFill>
              </a:rPr>
              <a:t>Rule-based logic you can inspect</a:t>
            </a:r>
            <a:endParaRPr lang="en-US" sz="1300" dirty="0"/>
          </a:p>
        </p:txBody>
      </p:sp>
      <p:pic>
        <p:nvPicPr>
          <p:cNvPr id="25" name="Image 4" descr="preencoded.png"/>
          <p:cNvPicPr>
            <a:picLocks noChangeAspect="1"/>
          </p:cNvPicPr>
          <p:nvPr/>
        </p:nvPicPr>
        <p:blipFill>
          <a:blip r:embed="rId7"/>
          <a:stretch>
            <a:fillRect/>
          </a:stretch>
        </p:blipFill>
        <p:spPr>
          <a:xfrm>
            <a:off x="6172200" y="2596896"/>
            <a:ext cx="256032" cy="256032"/>
          </a:xfrm>
          <a:prstGeom prst="rect">
            <a:avLst/>
          </a:prstGeom>
        </p:spPr>
      </p:pic>
      <p:sp>
        <p:nvSpPr>
          <p:cNvPr id="26" name="Text 19"/>
          <p:cNvSpPr txBox="1"/>
          <p:nvPr/>
        </p:nvSpPr>
        <p:spPr>
          <a:xfrm>
            <a:off x="6583680" y="2532888"/>
            <a:ext cx="1965960" cy="384048"/>
          </a:xfrm>
          <a:prstGeom prst="rect">
            <a:avLst/>
          </a:prstGeom>
          <a:noFill/>
          <a:ln/>
        </p:spPr>
        <p:txBody>
          <a:bodyPr wrap="square" lIns="0" tIns="0" rIns="0" bIns="0" rtlCol="0" anchor="ctr"/>
          <a:lstStyle/>
          <a:p>
            <a:pPr marL="0" indent="0">
              <a:buNone/>
            </a:pPr>
            <a:r>
              <a:rPr lang="en-US" sz="1300" dirty="0">
                <a:solidFill>
                  <a:schemeClr val="tx1"/>
                </a:solidFill>
              </a:rPr>
              <a:t>Preview before any change</a:t>
            </a:r>
            <a:endParaRPr lang="en-US" sz="1300" dirty="0"/>
          </a:p>
        </p:txBody>
      </p:sp>
      <p:pic>
        <p:nvPicPr>
          <p:cNvPr id="27" name="Image 5" descr="preencoded.png"/>
          <p:cNvPicPr>
            <a:picLocks noChangeAspect="1"/>
          </p:cNvPicPr>
          <p:nvPr/>
        </p:nvPicPr>
        <p:blipFill>
          <a:blip r:embed="rId8"/>
          <a:stretch>
            <a:fillRect/>
          </a:stretch>
        </p:blipFill>
        <p:spPr>
          <a:xfrm>
            <a:off x="6172200" y="3163824"/>
            <a:ext cx="256032" cy="256032"/>
          </a:xfrm>
          <a:prstGeom prst="rect">
            <a:avLst/>
          </a:prstGeom>
        </p:spPr>
      </p:pic>
      <p:sp>
        <p:nvSpPr>
          <p:cNvPr id="28" name="Text 20"/>
          <p:cNvSpPr txBox="1"/>
          <p:nvPr/>
        </p:nvSpPr>
        <p:spPr>
          <a:xfrm>
            <a:off x="6583680" y="3099816"/>
            <a:ext cx="1965960" cy="384048"/>
          </a:xfrm>
          <a:prstGeom prst="rect">
            <a:avLst/>
          </a:prstGeom>
          <a:noFill/>
          <a:ln/>
        </p:spPr>
        <p:txBody>
          <a:bodyPr wrap="square" lIns="0" tIns="0" rIns="0" bIns="0" rtlCol="0" anchor="ctr"/>
          <a:lstStyle/>
          <a:p>
            <a:pPr marL="0" indent="0">
              <a:buNone/>
            </a:pPr>
            <a:r>
              <a:rPr lang="en-US" sz="1300" dirty="0">
                <a:solidFill>
                  <a:schemeClr val="tx1"/>
                </a:solidFill>
              </a:rPr>
              <a:t>Undo any recovery</a:t>
            </a:r>
            <a:endParaRPr lang="en-US" sz="1300" dirty="0"/>
          </a:p>
        </p:txBody>
      </p:sp>
      <p:sp>
        <p:nvSpPr>
          <p:cNvPr id="29" name="Shape 21"/>
          <p:cNvSpPr/>
          <p:nvPr/>
        </p:nvSpPr>
        <p:spPr>
          <a:xfrm>
            <a:off x="6126480" y="3657600"/>
            <a:ext cx="2377440" cy="768096"/>
          </a:xfrm>
          <a:prstGeom prst="roundRect">
            <a:avLst>
              <a:gd name="adj" fmla="val 9524"/>
            </a:avLst>
          </a:prstGeom>
          <a:solidFill>
            <a:schemeClr val="accent5">
              <a:alpha val="15000"/>
            </a:schemeClr>
          </a:solidFill>
          <a:ln w="9525">
            <a:solidFill>
              <a:schemeClr val="accent5">
                <a:alpha val="70000"/>
              </a:schemeClr>
            </a:solidFill>
            <a:prstDash val="solid"/>
          </a:ln>
        </p:spPr>
      </p:sp>
      <p:sp>
        <p:nvSpPr>
          <p:cNvPr id="30" name="Text 22"/>
          <p:cNvSpPr txBox="1"/>
          <p:nvPr/>
        </p:nvSpPr>
        <p:spPr>
          <a:xfrm>
            <a:off x="6236208" y="3657600"/>
            <a:ext cx="2157984" cy="768096"/>
          </a:xfrm>
          <a:prstGeom prst="rect">
            <a:avLst/>
          </a:prstGeom>
          <a:noFill/>
          <a:ln/>
        </p:spPr>
        <p:txBody>
          <a:bodyPr wrap="square" lIns="0" tIns="0" rIns="0" bIns="0" rtlCol="0" anchor="ctr"/>
          <a:lstStyle/>
          <a:p>
            <a:pPr marL="0" indent="0">
              <a:buNone/>
            </a:pPr>
            <a:r>
              <a:rPr lang="en-US" sz="1200" b="1" dirty="0">
                <a:solidFill>
                  <a:schemeClr val="tx1"/>
                </a:solidFill>
              </a:rPr>
              <a:t>No external LLM or ML model in this prototype</a:t>
            </a:r>
            <a:endParaRPr lang="en-US" sz="1200" dirty="0"/>
          </a:p>
        </p:txBody>
      </p:sp>
      <p:sp>
        <p:nvSpPr>
          <p:cNvPr id="31"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7C7"/>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2011680" y="2194560"/>
            <a:ext cx="5120640" cy="5120640"/>
          </a:xfrm>
          <a:prstGeom prst="ellipse">
            <a:avLst/>
          </a:prstGeom>
          <a:solidFill>
            <a:schemeClr val="accent2">
              <a:alpha val="10000"/>
            </a:schemeClr>
          </a:solidFill>
          <a:ln/>
        </p:spPr>
      </p:sp>
      <p:sp>
        <p:nvSpPr>
          <p:cNvPr id="3" name="Text 0"/>
          <p:cNvSpPr>
            <a:spLocks noGrp="1"/>
          </p:cNvSpPr>
          <p:nvPr>
            <p:ph type="title" idx="100" hasCustomPrompt="1"/>
          </p:nvPr>
        </p:nvSpPr>
        <p:spPr>
          <a:xfrm>
            <a:off x="457200" y="320040"/>
            <a:ext cx="8229600" cy="868680"/>
          </a:xfrm>
          <a:prstGeom prst="rect">
            <a:avLst/>
          </a:prstGeom>
          <a:noFill/>
          <a:ln/>
        </p:spPr>
        <p:txBody>
          <a:bodyPr wrap="square" lIns="0" tIns="0" rIns="0" bIns="0" rtlCol="0" anchor="t"/>
          <a:lstStyle/>
          <a:p>
            <a:pPr marL="0" indent="0" algn="l">
              <a:buNone/>
            </a:pPr>
            <a:r>
              <a:rPr lang="en-US" sz="2600" b="1" dirty="0">
                <a:solidFill>
                  <a:schemeClr val="tx2"/>
                </a:solidFill>
              </a:rPr>
              <a:t>Other Planners Help You Plan a Perfect Week.</a:t>
            </a:r>
            <a:endParaRPr lang="en-US" sz="2600" dirty="0"/>
          </a:p>
          <a:p>
            <a:pPr marL="0" indent="0" algn="l">
              <a:buNone/>
            </a:pPr>
            <a:r>
              <a:rPr lang="en-US" sz="2600" b="1" dirty="0">
                <a:solidFill>
                  <a:schemeClr val="tx1"/>
                </a:solidFill>
              </a:rPr>
              <a:t>REPLAN AI Helps You Manage an Imperfect One.</a:t>
            </a:r>
            <a:endParaRPr lang="en-US" sz="2600" dirty="0"/>
          </a:p>
        </p:txBody>
      </p:sp>
      <p:sp>
        <p:nvSpPr>
          <p:cNvPr id="4" name="Shape 2"/>
          <p:cNvSpPr/>
          <p:nvPr/>
        </p:nvSpPr>
        <p:spPr>
          <a:xfrm>
            <a:off x="457200" y="1691640"/>
            <a:ext cx="2560320" cy="1600200"/>
          </a:xfrm>
          <a:prstGeom prst="roundRect">
            <a:avLst>
              <a:gd name="adj" fmla="val 6857"/>
            </a:avLst>
          </a:prstGeom>
          <a:solidFill>
            <a:schemeClr val="bg2"/>
          </a:solidFill>
          <a:ln w="9525">
            <a:solidFill>
              <a:schemeClr val="accent1">
                <a:alpha val="60000"/>
              </a:schemeClr>
            </a:solidFill>
            <a:prstDash val="solid"/>
          </a:ln>
        </p:spPr>
      </p:sp>
      <p:sp>
        <p:nvSpPr>
          <p:cNvPr id="5" name="Shape 3"/>
          <p:cNvSpPr/>
          <p:nvPr/>
        </p:nvSpPr>
        <p:spPr>
          <a:xfrm>
            <a:off x="685800" y="1874520"/>
            <a:ext cx="548640" cy="548640"/>
          </a:xfrm>
          <a:prstGeom prst="ellipse">
            <a:avLst/>
          </a:prstGeom>
          <a:solidFill>
            <a:schemeClr val="accent1">
              <a:alpha val="20000"/>
            </a:schemeClr>
          </a:solidFill>
          <a:ln w="12700">
            <a:solidFill>
              <a:schemeClr val="accent1">
                <a:alpha val="60000"/>
              </a:schemeClr>
            </a:solidFill>
            <a:prstDash val="solid"/>
          </a:ln>
        </p:spPr>
      </p:sp>
      <p:pic>
        <p:nvPicPr>
          <p:cNvPr id="6" name="Image 0" descr="preencoded.png"/>
          <p:cNvPicPr>
            <a:picLocks noChangeAspect="1"/>
          </p:cNvPicPr>
          <p:nvPr/>
        </p:nvPicPr>
        <p:blipFill>
          <a:blip r:embed="rId3"/>
          <a:stretch>
            <a:fillRect/>
          </a:stretch>
        </p:blipFill>
        <p:spPr>
          <a:xfrm>
            <a:off x="833933" y="2022653"/>
            <a:ext cx="252374" cy="252374"/>
          </a:xfrm>
          <a:prstGeom prst="rect">
            <a:avLst/>
          </a:prstGeom>
        </p:spPr>
      </p:pic>
      <p:sp>
        <p:nvSpPr>
          <p:cNvPr id="7" name="Text 4"/>
          <p:cNvSpPr txBox="1"/>
          <p:nvPr/>
        </p:nvSpPr>
        <p:spPr>
          <a:xfrm>
            <a:off x="685800" y="2560320"/>
            <a:ext cx="2194560" cy="292608"/>
          </a:xfrm>
          <a:prstGeom prst="rect">
            <a:avLst/>
          </a:prstGeom>
          <a:noFill/>
          <a:ln/>
        </p:spPr>
        <p:txBody>
          <a:bodyPr wrap="square" lIns="0" tIns="0" rIns="0" bIns="0" rtlCol="0" anchor="ctr"/>
          <a:lstStyle/>
          <a:p>
            <a:pPr marL="0" indent="0">
              <a:buNone/>
            </a:pPr>
            <a:r>
              <a:rPr lang="en-US" sz="1700" b="1" dirty="0">
                <a:solidFill>
                  <a:schemeClr val="tx1"/>
                </a:solidFill>
              </a:rPr>
              <a:t>Realistic Planning</a:t>
            </a:r>
            <a:endParaRPr lang="en-US" sz="1700" dirty="0"/>
          </a:p>
        </p:txBody>
      </p:sp>
      <p:sp>
        <p:nvSpPr>
          <p:cNvPr id="8" name="Text 5"/>
          <p:cNvSpPr txBox="1"/>
          <p:nvPr/>
        </p:nvSpPr>
        <p:spPr>
          <a:xfrm>
            <a:off x="685800" y="2871216"/>
            <a:ext cx="2194560" cy="365760"/>
          </a:xfrm>
          <a:prstGeom prst="rect">
            <a:avLst/>
          </a:prstGeom>
          <a:noFill/>
          <a:ln/>
        </p:spPr>
        <p:txBody>
          <a:bodyPr wrap="square" lIns="0" tIns="0" rIns="0" bIns="0" rtlCol="0" anchor="t"/>
          <a:lstStyle/>
          <a:p>
            <a:pPr marL="0" indent="0">
              <a:buNone/>
            </a:pPr>
            <a:r>
              <a:rPr lang="en-US" sz="1200" dirty="0">
                <a:solidFill>
                  <a:schemeClr val="tx2"/>
                </a:solidFill>
              </a:rPr>
              <a:t>Plans fit the hours you really have.</a:t>
            </a:r>
            <a:endParaRPr lang="en-US" sz="1200" dirty="0"/>
          </a:p>
        </p:txBody>
      </p:sp>
      <p:sp>
        <p:nvSpPr>
          <p:cNvPr id="9" name="Shape 6"/>
          <p:cNvSpPr/>
          <p:nvPr/>
        </p:nvSpPr>
        <p:spPr>
          <a:xfrm>
            <a:off x="3291840" y="1691640"/>
            <a:ext cx="2560320" cy="1600200"/>
          </a:xfrm>
          <a:prstGeom prst="roundRect">
            <a:avLst>
              <a:gd name="adj" fmla="val 6857"/>
            </a:avLst>
          </a:prstGeom>
          <a:solidFill>
            <a:schemeClr val="bg2"/>
          </a:solidFill>
          <a:ln w="9525">
            <a:solidFill>
              <a:schemeClr val="accent2">
                <a:alpha val="60000"/>
              </a:schemeClr>
            </a:solidFill>
            <a:prstDash val="solid"/>
          </a:ln>
        </p:spPr>
      </p:sp>
      <p:sp>
        <p:nvSpPr>
          <p:cNvPr id="10" name="Shape 7"/>
          <p:cNvSpPr/>
          <p:nvPr/>
        </p:nvSpPr>
        <p:spPr>
          <a:xfrm>
            <a:off x="3520440" y="1874520"/>
            <a:ext cx="548640" cy="548640"/>
          </a:xfrm>
          <a:prstGeom prst="ellipse">
            <a:avLst/>
          </a:prstGeom>
          <a:solidFill>
            <a:schemeClr val="accent2">
              <a:alpha val="20000"/>
            </a:schemeClr>
          </a:solidFill>
          <a:ln w="12700">
            <a:solidFill>
              <a:schemeClr val="accent2">
                <a:alpha val="60000"/>
              </a:schemeClr>
            </a:solidFill>
            <a:prstDash val="solid"/>
          </a:ln>
        </p:spPr>
      </p:sp>
      <p:pic>
        <p:nvPicPr>
          <p:cNvPr id="11" name="Image 1" descr="preencoded.png"/>
          <p:cNvPicPr>
            <a:picLocks noChangeAspect="1"/>
          </p:cNvPicPr>
          <p:nvPr/>
        </p:nvPicPr>
        <p:blipFill>
          <a:blip r:embed="rId4"/>
          <a:stretch>
            <a:fillRect/>
          </a:stretch>
        </p:blipFill>
        <p:spPr>
          <a:xfrm>
            <a:off x="3668573" y="2022653"/>
            <a:ext cx="252374" cy="252374"/>
          </a:xfrm>
          <a:prstGeom prst="rect">
            <a:avLst/>
          </a:prstGeom>
        </p:spPr>
      </p:pic>
      <p:sp>
        <p:nvSpPr>
          <p:cNvPr id="12" name="Text 8"/>
          <p:cNvSpPr txBox="1"/>
          <p:nvPr/>
        </p:nvSpPr>
        <p:spPr>
          <a:xfrm>
            <a:off x="3520440" y="2560320"/>
            <a:ext cx="2194560" cy="292608"/>
          </a:xfrm>
          <a:prstGeom prst="rect">
            <a:avLst/>
          </a:prstGeom>
          <a:noFill/>
          <a:ln/>
        </p:spPr>
        <p:txBody>
          <a:bodyPr wrap="square" lIns="0" tIns="0" rIns="0" bIns="0" rtlCol="0" anchor="ctr"/>
          <a:lstStyle/>
          <a:p>
            <a:pPr marL="0" indent="0">
              <a:buNone/>
            </a:pPr>
            <a:r>
              <a:rPr lang="en-US" sz="1700" b="1" dirty="0">
                <a:solidFill>
                  <a:schemeClr val="tx1"/>
                </a:solidFill>
              </a:rPr>
              <a:t>Automatic Recovery</a:t>
            </a:r>
            <a:endParaRPr lang="en-US" sz="1700" dirty="0"/>
          </a:p>
        </p:txBody>
      </p:sp>
      <p:sp>
        <p:nvSpPr>
          <p:cNvPr id="13" name="Text 9"/>
          <p:cNvSpPr txBox="1"/>
          <p:nvPr/>
        </p:nvSpPr>
        <p:spPr>
          <a:xfrm>
            <a:off x="3520440" y="2871216"/>
            <a:ext cx="2194560" cy="365760"/>
          </a:xfrm>
          <a:prstGeom prst="rect">
            <a:avLst/>
          </a:prstGeom>
          <a:noFill/>
          <a:ln/>
        </p:spPr>
        <p:txBody>
          <a:bodyPr wrap="square" lIns="0" tIns="0" rIns="0" bIns="0" rtlCol="0" anchor="t"/>
          <a:lstStyle/>
          <a:p>
            <a:pPr marL="0" indent="0">
              <a:buNone/>
            </a:pPr>
            <a:r>
              <a:rPr lang="en-US" sz="1200" dirty="0">
                <a:solidFill>
                  <a:schemeClr val="tx2"/>
                </a:solidFill>
              </a:rPr>
              <a:t>Flexible tasks reflow automatically.</a:t>
            </a:r>
            <a:endParaRPr lang="en-US" sz="1200" dirty="0"/>
          </a:p>
        </p:txBody>
      </p:sp>
      <p:sp>
        <p:nvSpPr>
          <p:cNvPr id="14" name="Shape 10"/>
          <p:cNvSpPr/>
          <p:nvPr/>
        </p:nvSpPr>
        <p:spPr>
          <a:xfrm>
            <a:off x="6126480" y="1691640"/>
            <a:ext cx="2560320" cy="1600200"/>
          </a:xfrm>
          <a:prstGeom prst="roundRect">
            <a:avLst>
              <a:gd name="adj" fmla="val 6857"/>
            </a:avLst>
          </a:prstGeom>
          <a:solidFill>
            <a:schemeClr val="bg2"/>
          </a:solidFill>
          <a:ln w="9525">
            <a:solidFill>
              <a:schemeClr val="accent3">
                <a:alpha val="60000"/>
              </a:schemeClr>
            </a:solidFill>
            <a:prstDash val="solid"/>
          </a:ln>
        </p:spPr>
      </p:sp>
      <p:sp>
        <p:nvSpPr>
          <p:cNvPr id="15" name="Shape 11"/>
          <p:cNvSpPr/>
          <p:nvPr/>
        </p:nvSpPr>
        <p:spPr>
          <a:xfrm>
            <a:off x="6355080" y="1874520"/>
            <a:ext cx="548640" cy="548640"/>
          </a:xfrm>
          <a:prstGeom prst="ellipse">
            <a:avLst/>
          </a:prstGeom>
          <a:solidFill>
            <a:schemeClr val="accent3">
              <a:alpha val="20000"/>
            </a:schemeClr>
          </a:solidFill>
          <a:ln w="12700">
            <a:solidFill>
              <a:schemeClr val="accent3">
                <a:alpha val="60000"/>
              </a:schemeClr>
            </a:solidFill>
            <a:prstDash val="solid"/>
          </a:ln>
        </p:spPr>
      </p:sp>
      <p:pic>
        <p:nvPicPr>
          <p:cNvPr id="16" name="Image 2" descr="preencoded.png"/>
          <p:cNvPicPr>
            <a:picLocks noChangeAspect="1"/>
          </p:cNvPicPr>
          <p:nvPr/>
        </p:nvPicPr>
        <p:blipFill>
          <a:blip r:embed="rId5"/>
          <a:stretch>
            <a:fillRect/>
          </a:stretch>
        </p:blipFill>
        <p:spPr>
          <a:xfrm>
            <a:off x="6503213" y="2022653"/>
            <a:ext cx="252374" cy="252374"/>
          </a:xfrm>
          <a:prstGeom prst="rect">
            <a:avLst/>
          </a:prstGeom>
        </p:spPr>
      </p:pic>
      <p:sp>
        <p:nvSpPr>
          <p:cNvPr id="17" name="Text 12"/>
          <p:cNvSpPr txBox="1"/>
          <p:nvPr/>
        </p:nvSpPr>
        <p:spPr>
          <a:xfrm>
            <a:off x="6355080" y="2560320"/>
            <a:ext cx="2194560" cy="292608"/>
          </a:xfrm>
          <a:prstGeom prst="rect">
            <a:avLst/>
          </a:prstGeom>
          <a:noFill/>
          <a:ln/>
        </p:spPr>
        <p:txBody>
          <a:bodyPr wrap="square" lIns="0" tIns="0" rIns="0" bIns="0" rtlCol="0" anchor="ctr"/>
          <a:lstStyle/>
          <a:p>
            <a:pPr marL="0" indent="0">
              <a:buNone/>
            </a:pPr>
            <a:r>
              <a:rPr lang="en-US" sz="1700" b="1" dirty="0">
                <a:solidFill>
                  <a:schemeClr val="tx1"/>
                </a:solidFill>
              </a:rPr>
              <a:t>Deadline Awareness</a:t>
            </a:r>
            <a:endParaRPr lang="en-US" sz="1700" dirty="0"/>
          </a:p>
        </p:txBody>
      </p:sp>
      <p:sp>
        <p:nvSpPr>
          <p:cNvPr id="18" name="Text 13"/>
          <p:cNvSpPr txBox="1"/>
          <p:nvPr/>
        </p:nvSpPr>
        <p:spPr>
          <a:xfrm>
            <a:off x="6355080" y="2871216"/>
            <a:ext cx="2194560" cy="365760"/>
          </a:xfrm>
          <a:prstGeom prst="rect">
            <a:avLst/>
          </a:prstGeom>
          <a:noFill/>
          <a:ln/>
        </p:spPr>
        <p:txBody>
          <a:bodyPr wrap="square" lIns="0" tIns="0" rIns="0" bIns="0" rtlCol="0" anchor="t"/>
          <a:lstStyle/>
          <a:p>
            <a:pPr marL="0" indent="0">
              <a:buNone/>
            </a:pPr>
            <a:r>
              <a:rPr lang="en-US" sz="1200" dirty="0">
                <a:solidFill>
                  <a:schemeClr val="tx2"/>
                </a:solidFill>
              </a:rPr>
              <a:t>Risks are flagged before they hit.</a:t>
            </a:r>
            <a:endParaRPr lang="en-US" sz="1200" dirty="0"/>
          </a:p>
        </p:txBody>
      </p:sp>
      <p:sp>
        <p:nvSpPr>
          <p:cNvPr id="19" name="Text 14"/>
          <p:cNvSpPr txBox="1"/>
          <p:nvPr/>
        </p:nvSpPr>
        <p:spPr>
          <a:xfrm>
            <a:off x="2011680" y="3657600"/>
            <a:ext cx="5120640" cy="731520"/>
          </a:xfrm>
          <a:prstGeom prst="roundRect">
            <a:avLst>
              <a:gd name="adj" fmla="val 50000"/>
            </a:avLst>
          </a:prstGeom>
          <a:solidFill>
            <a:schemeClr val="accent2"/>
          </a:solidFill>
          <a:ln w="19050">
            <a:solidFill>
              <a:schemeClr val="tx1">
                <a:alpha val="60000"/>
              </a:schemeClr>
            </a:solidFill>
          </a:ln>
          <a:effectLst>
            <a:outerShdw blurRad="203200" dist="50800" dir="5400000" algn="bl" rotWithShape="0">
              <a:srgbClr val="8B5CF6">
                <a:alpha val="60000"/>
              </a:srgbClr>
            </a:outerShdw>
          </a:effectLst>
        </p:spPr>
        <p:txBody>
          <a:bodyPr wrap="square" lIns="0" tIns="0" rIns="0" bIns="0" rtlCol="0" anchor="ctr"/>
          <a:lstStyle/>
          <a:p>
            <a:pPr marL="0" indent="0" algn="ctr">
              <a:buNone/>
            </a:pPr>
            <a:r>
              <a:rPr lang="en-US" sz="2400" b="1" kern="0" spc="100" dirty="0">
                <a:solidFill>
                  <a:schemeClr val="tx1"/>
                </a:solidFill>
                <a:latin typeface="+mj-lt" pitchFamily="34" charset="0"/>
                <a:ea typeface="+mj-lt" pitchFamily="34" charset="-122"/>
                <a:cs typeface="+mj-lt" pitchFamily="34" charset="-120"/>
              </a:rPr>
              <a:t>Thank You   |   Live Demo</a:t>
            </a:r>
            <a:endParaRPr lang="en-US" sz="2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7C7"/>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REPLAN Midnight">
  <a:themeElements>
    <a:clrScheme name="REPLAN Midnight">
      <a:dk1>
        <a:srgbClr val="F1F5FF"/>
      </a:dk1>
      <a:lt1>
        <a:srgbClr val="0A0F24"/>
      </a:lt1>
      <a:dk2>
        <a:srgbClr val="9AA7C7"/>
      </a:dk2>
      <a:lt2>
        <a:srgbClr val="141C3F"/>
      </a:lt2>
      <a:accent1>
        <a:srgbClr val="3B82F6"/>
      </a:accent1>
      <a:accent2>
        <a:srgbClr val="8B5CF6"/>
      </a:accent2>
      <a:accent3>
        <a:srgbClr val="22D3EE"/>
      </a:accent3>
      <a:accent4>
        <a:srgbClr val="34D399"/>
      </a:accent4>
      <a:accent5>
        <a:srgbClr val="F59E0B"/>
      </a:accent5>
      <a:accent6>
        <a:srgbClr val="F43F5E"/>
      </a:accent6>
      <a:hlink>
        <a:srgbClr val="60A5FA"/>
      </a:hlink>
      <a:folHlink>
        <a:srgbClr val="A78BFA"/>
      </a:folHlink>
    </a:clrScheme>
    <a:fontScheme name="REPLAN Mid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947</Words>
  <Application>Microsoft Office PowerPoint</Application>
  <PresentationFormat>On-screen Show (16:9)</PresentationFormat>
  <Paragraphs>154</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REPLAN Midnight</vt:lpstr>
      <vt:lpstr>PowerPoint Presentation</vt:lpstr>
      <vt:lpstr>Students Don't Just Need Plans. They Need Recovery.</vt:lpstr>
      <vt:lpstr>Meet REPLAN AI</vt:lpstr>
      <vt:lpstr>Four Stages. One Self-Healing Loop</vt:lpstr>
      <vt:lpstr>When Life Changes, Your Plan Adapts</vt:lpstr>
      <vt:lpstr>Before vs After: Recovery in Action</vt:lpstr>
      <vt:lpstr>Explainable Scheduling, Not a Black Box</vt:lpstr>
      <vt:lpstr>Other Planners Help You Plan a Perfect Week. REPLAN AI Helps You Manage an Imperfect One.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REPLAN AI - Your Week. Rebuilt.</dc:title>
  <dc:subject>PptxGenJS Presentation</dc:subject>
  <dc:creator>REPLAN AI</dc:creator>
  <cp:lastModifiedBy>nikki sah</cp:lastModifiedBy>
  <cp:revision>3</cp:revision>
  <dcterms:created xsi:type="dcterms:W3CDTF">2026-10-24T07:20:03Z</dcterms:created>
  <dcterms:modified xsi:type="dcterms:W3CDTF">2026-10-24T07:22:39Z</dcterms:modified>
</cp:coreProperties>
</file>